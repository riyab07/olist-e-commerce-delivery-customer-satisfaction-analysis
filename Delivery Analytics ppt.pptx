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409cfbe11c6_3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409cfbe11c6_3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g409cfbe11c6_3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409cfbe11c6_3_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409cfbe11c6_3_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g409cfbe11c6_3_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409cfbe11c6_3_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409cfbe11c6_3_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409cfbe11c6_3_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409cfbe11c6_3_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409cfbe11c6_3_7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409cfbe11c6_3_7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409cfbe11c6_3_9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409cfbe11c6_3_9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409cfbe11c6_3_9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409cfbe11c6_3_12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409cfbe11c6_3_12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409cfbe11c6_3_12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409cfbe11c6_3_1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409cfbe11c6_3_15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409cfbe11c6_3_15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F3D"/>
        </a:solidFill>
      </p:bgPr>
    </p:bg>
    <p:spTree>
      <p:nvGrpSpPr>
        <p:cNvPr id="56" name="Shape 56"/>
        <p:cNvGrpSpPr/>
        <p:nvPr/>
      </p:nvGrpSpPr>
      <p:grpSpPr>
        <a:xfrm>
          <a:off x="0" y="0"/>
          <a:ext cx="0" cy="0"/>
          <a:chOff x="0" y="0"/>
          <a:chExt cx="0" cy="0"/>
        </a:xfrm>
      </p:grpSpPr>
      <p:sp>
        <p:nvSpPr>
          <p:cNvPr id="57" name="Google Shape;57;p15"/>
          <p:cNvSpPr/>
          <p:nvPr/>
        </p:nvSpPr>
        <p:spPr>
          <a:xfrm>
            <a:off x="0" y="0"/>
            <a:ext cx="3749040"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5"/>
          <p:cNvSpPr txBox="1"/>
          <p:nvPr/>
        </p:nvSpPr>
        <p:spPr>
          <a:xfrm>
            <a:off x="274320" y="457200"/>
            <a:ext cx="320040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6000"/>
              <a:buFont typeface="Calibri"/>
              <a:buNone/>
            </a:pPr>
            <a:r>
              <a:rPr b="0" i="0" lang="en" sz="6000" u="none" cap="none" strike="noStrike">
                <a:solidFill>
                  <a:srgbClr val="000000"/>
                </a:solidFill>
                <a:latin typeface="Calibri"/>
                <a:ea typeface="Calibri"/>
                <a:cs typeface="Calibri"/>
                <a:sym typeface="Calibri"/>
              </a:rPr>
              <a:t>🚚</a:t>
            </a:r>
            <a:endParaRPr b="0" i="0" sz="6000" u="none" cap="none" strike="noStrike">
              <a:solidFill>
                <a:schemeClr val="dk1"/>
              </a:solidFill>
              <a:latin typeface="Calibri"/>
              <a:ea typeface="Calibri"/>
              <a:cs typeface="Calibri"/>
              <a:sym typeface="Calibri"/>
            </a:endParaRPr>
          </a:p>
        </p:txBody>
      </p:sp>
      <p:sp>
        <p:nvSpPr>
          <p:cNvPr id="59" name="Google Shape;59;p15"/>
          <p:cNvSpPr txBox="1"/>
          <p:nvPr/>
        </p:nvSpPr>
        <p:spPr>
          <a:xfrm>
            <a:off x="182880" y="1737360"/>
            <a:ext cx="338328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E0FF"/>
              </a:buClr>
              <a:buSzPts val="1000"/>
              <a:buFont typeface="Calibri"/>
              <a:buNone/>
            </a:pPr>
            <a:r>
              <a:rPr b="1" i="0" lang="en" sz="1000" u="none" cap="none" strike="noStrike">
                <a:solidFill>
                  <a:srgbClr val="CCE0FF"/>
                </a:solidFill>
                <a:latin typeface="Calibri"/>
                <a:ea typeface="Calibri"/>
                <a:cs typeface="Calibri"/>
                <a:sym typeface="Calibri"/>
              </a:rPr>
              <a:t>OLIST MARKETPLACE</a:t>
            </a:r>
            <a:endParaRPr b="0" i="0" sz="1000" u="none" cap="none" strike="noStrike">
              <a:solidFill>
                <a:schemeClr val="dk1"/>
              </a:solidFill>
              <a:latin typeface="Calibri"/>
              <a:ea typeface="Calibri"/>
              <a:cs typeface="Calibri"/>
              <a:sym typeface="Calibri"/>
            </a:endParaRPr>
          </a:p>
        </p:txBody>
      </p:sp>
      <p:sp>
        <p:nvSpPr>
          <p:cNvPr id="60" name="Google Shape;60;p15"/>
          <p:cNvSpPr txBox="1"/>
          <p:nvPr/>
        </p:nvSpPr>
        <p:spPr>
          <a:xfrm>
            <a:off x="182880" y="2148840"/>
            <a:ext cx="338328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libri"/>
              <a:buNone/>
            </a:pPr>
            <a:r>
              <a:rPr b="1" i="0" lang="en" sz="3000" u="none" cap="none" strike="noStrike">
                <a:solidFill>
                  <a:srgbClr val="FFFFFF"/>
                </a:solidFill>
                <a:latin typeface="Calibri"/>
                <a:ea typeface="Calibri"/>
                <a:cs typeface="Calibri"/>
                <a:sym typeface="Calibri"/>
              </a:rPr>
              <a:t>Delivery Analytics</a:t>
            </a:r>
            <a:endParaRPr b="0" i="0" sz="3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000"/>
              <a:buFont typeface="Calibri"/>
              <a:buNone/>
            </a:pPr>
            <a:r>
              <a:rPr b="1" i="0" lang="en" sz="3000" u="none" cap="none" strike="noStrike">
                <a:solidFill>
                  <a:srgbClr val="FFFFFF"/>
                </a:solidFill>
                <a:latin typeface="Calibri"/>
                <a:ea typeface="Calibri"/>
                <a:cs typeface="Calibri"/>
                <a:sym typeface="Calibri"/>
              </a:rPr>
              <a:t>Report</a:t>
            </a:r>
            <a:endParaRPr b="0" i="0" sz="3000" u="none" cap="none" strike="noStrike">
              <a:solidFill>
                <a:schemeClr val="dk1"/>
              </a:solidFill>
              <a:latin typeface="Calibri"/>
              <a:ea typeface="Calibri"/>
              <a:cs typeface="Calibri"/>
              <a:sym typeface="Calibri"/>
            </a:endParaRPr>
          </a:p>
        </p:txBody>
      </p:sp>
      <p:sp>
        <p:nvSpPr>
          <p:cNvPr id="61" name="Google Shape;61;p15"/>
          <p:cNvSpPr txBox="1"/>
          <p:nvPr/>
        </p:nvSpPr>
        <p:spPr>
          <a:xfrm>
            <a:off x="182880" y="3291840"/>
            <a:ext cx="3383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CE0FF"/>
              </a:buClr>
              <a:buSzPts val="1100"/>
              <a:buFont typeface="Calibri"/>
              <a:buNone/>
            </a:pPr>
            <a:r>
              <a:rPr lang="en" sz="1100">
                <a:solidFill>
                  <a:srgbClr val="CCE0FF"/>
                </a:solidFill>
                <a:latin typeface="Calibri"/>
                <a:ea typeface="Calibri"/>
                <a:cs typeface="Calibri"/>
                <a:sym typeface="Calibri"/>
              </a:rPr>
              <a:t>-Riya Bhardwaj</a:t>
            </a:r>
            <a:endParaRPr b="0" i="0" sz="1100" u="none" cap="none" strike="noStrike">
              <a:solidFill>
                <a:schemeClr val="dk1"/>
              </a:solidFill>
              <a:latin typeface="Calibri"/>
              <a:ea typeface="Calibri"/>
              <a:cs typeface="Calibri"/>
              <a:sym typeface="Calibri"/>
            </a:endParaRPr>
          </a:p>
        </p:txBody>
      </p:sp>
      <p:sp>
        <p:nvSpPr>
          <p:cNvPr id="62" name="Google Shape;62;p15"/>
          <p:cNvSpPr txBox="1"/>
          <p:nvPr/>
        </p:nvSpPr>
        <p:spPr>
          <a:xfrm>
            <a:off x="4023360" y="548640"/>
            <a:ext cx="4846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 sz="2200" u="none" cap="none" strike="noStrike">
                <a:solidFill>
                  <a:srgbClr val="FFFFFF"/>
                </a:solidFill>
                <a:latin typeface="Calibri"/>
                <a:ea typeface="Calibri"/>
                <a:cs typeface="Calibri"/>
                <a:sym typeface="Calibri"/>
              </a:rPr>
              <a:t>Business Problem</a:t>
            </a:r>
            <a:endParaRPr b="0" i="0" sz="2200" u="none" cap="none" strike="noStrike">
              <a:solidFill>
                <a:schemeClr val="dk1"/>
              </a:solidFill>
              <a:latin typeface="Calibri"/>
              <a:ea typeface="Calibri"/>
              <a:cs typeface="Calibri"/>
              <a:sym typeface="Calibri"/>
            </a:endParaRPr>
          </a:p>
        </p:txBody>
      </p:sp>
      <p:sp>
        <p:nvSpPr>
          <p:cNvPr id="63" name="Google Shape;63;p15"/>
          <p:cNvSpPr/>
          <p:nvPr/>
        </p:nvSpPr>
        <p:spPr>
          <a:xfrm>
            <a:off x="4023360" y="1051560"/>
            <a:ext cx="4846320" cy="36576"/>
          </a:xfrm>
          <a:prstGeom prst="rect">
            <a:avLst/>
          </a:prstGeom>
          <a:solidFill>
            <a:srgbClr val="0EA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txBox="1"/>
          <p:nvPr/>
        </p:nvSpPr>
        <p:spPr>
          <a:xfrm>
            <a:off x="4023360" y="1188720"/>
            <a:ext cx="4846320" cy="20116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D1E4FF"/>
              </a:buClr>
              <a:buSzPts val="1350"/>
              <a:buFont typeface="Calibri"/>
              <a:buNone/>
            </a:pPr>
            <a:r>
              <a:rPr b="0" i="0" lang="en" sz="1350" u="none" cap="none" strike="noStrike">
                <a:solidFill>
                  <a:srgbClr val="D1E4FF"/>
                </a:solidFill>
                <a:latin typeface="Calibri"/>
                <a:ea typeface="Calibri"/>
                <a:cs typeface="Calibri"/>
                <a:sym typeface="Calibri"/>
              </a:rPr>
              <a:t>Late and unpredictable deliveries may be hurting customer satisfaction on the Olist marketplace. This analysis investigates what drives delivery delays and how they impact customer reviews, to help management improve logistics and protect platform reputation.</a:t>
            </a:r>
            <a:endParaRPr b="0" i="0" sz="1350" u="none" cap="none" strike="noStrike">
              <a:solidFill>
                <a:schemeClr val="dk1"/>
              </a:solidFill>
              <a:latin typeface="Calibri"/>
              <a:ea typeface="Calibri"/>
              <a:cs typeface="Calibri"/>
              <a:sym typeface="Calibri"/>
            </a:endParaRPr>
          </a:p>
        </p:txBody>
      </p:sp>
      <p:sp>
        <p:nvSpPr>
          <p:cNvPr id="65" name="Google Shape;65;p15"/>
          <p:cNvSpPr/>
          <p:nvPr/>
        </p:nvSpPr>
        <p:spPr>
          <a:xfrm>
            <a:off x="4023360" y="3429000"/>
            <a:ext cx="1508760" cy="594360"/>
          </a:xfrm>
          <a:prstGeom prst="roundRect">
            <a:avLst>
              <a:gd fmla="val 12308" name="adj"/>
            </a:avLst>
          </a:prstGeom>
          <a:solidFill>
            <a:srgbClr val="1A3A6E"/>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5"/>
          <p:cNvSpPr txBox="1"/>
          <p:nvPr/>
        </p:nvSpPr>
        <p:spPr>
          <a:xfrm>
            <a:off x="4069080" y="3493008"/>
            <a:ext cx="1417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  ~99K Orders</a:t>
            </a:r>
            <a:endParaRPr b="0" i="0" sz="1000" u="none" cap="none" strike="noStrike">
              <a:solidFill>
                <a:schemeClr val="dk1"/>
              </a:solidFill>
              <a:latin typeface="Calibri"/>
              <a:ea typeface="Calibri"/>
              <a:cs typeface="Calibri"/>
              <a:sym typeface="Calibri"/>
            </a:endParaRPr>
          </a:p>
        </p:txBody>
      </p:sp>
      <p:sp>
        <p:nvSpPr>
          <p:cNvPr id="67" name="Google Shape;67;p15"/>
          <p:cNvSpPr/>
          <p:nvPr/>
        </p:nvSpPr>
        <p:spPr>
          <a:xfrm>
            <a:off x="5687568" y="3429000"/>
            <a:ext cx="1508760" cy="594360"/>
          </a:xfrm>
          <a:prstGeom prst="roundRect">
            <a:avLst>
              <a:gd fmla="val 12308" name="adj"/>
            </a:avLst>
          </a:prstGeom>
          <a:solidFill>
            <a:srgbClr val="1A3A6E"/>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nvSpPr>
        <p:spPr>
          <a:xfrm>
            <a:off x="5733288" y="3493008"/>
            <a:ext cx="1417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  Python Analysis</a:t>
            </a:r>
            <a:endParaRPr b="0" i="0" sz="1000" u="none" cap="none" strike="noStrike">
              <a:solidFill>
                <a:schemeClr val="dk1"/>
              </a:solidFill>
              <a:latin typeface="Calibri"/>
              <a:ea typeface="Calibri"/>
              <a:cs typeface="Calibri"/>
              <a:sym typeface="Calibri"/>
            </a:endParaRPr>
          </a:p>
        </p:txBody>
      </p:sp>
      <p:sp>
        <p:nvSpPr>
          <p:cNvPr id="69" name="Google Shape;69;p15"/>
          <p:cNvSpPr/>
          <p:nvPr/>
        </p:nvSpPr>
        <p:spPr>
          <a:xfrm>
            <a:off x="7351776" y="3429000"/>
            <a:ext cx="1508760" cy="594360"/>
          </a:xfrm>
          <a:prstGeom prst="roundRect">
            <a:avLst>
              <a:gd fmla="val 12308" name="adj"/>
            </a:avLst>
          </a:prstGeom>
          <a:solidFill>
            <a:srgbClr val="1A3A6E"/>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txBox="1"/>
          <p:nvPr/>
        </p:nvSpPr>
        <p:spPr>
          <a:xfrm>
            <a:off x="7397496" y="3493008"/>
            <a:ext cx="14173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  Looker Studio</a:t>
            </a:r>
            <a:endParaRPr b="0" i="0" sz="1000" u="none" cap="none" strike="noStrike">
              <a:solidFill>
                <a:schemeClr val="dk1"/>
              </a:solidFill>
              <a:latin typeface="Calibri"/>
              <a:ea typeface="Calibri"/>
              <a:cs typeface="Calibri"/>
              <a:sym typeface="Calibri"/>
            </a:endParaRPr>
          </a:p>
        </p:txBody>
      </p:sp>
      <p:sp>
        <p:nvSpPr>
          <p:cNvPr id="71" name="Google Shape;71;p15"/>
          <p:cNvSpPr txBox="1"/>
          <p:nvPr/>
        </p:nvSpPr>
        <p:spPr>
          <a:xfrm>
            <a:off x="4023360" y="448056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16"/>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Data &amp; Methodology</a:t>
            </a:r>
            <a:endParaRPr b="0" i="0" sz="2400" u="none" cap="none" strike="noStrike">
              <a:solidFill>
                <a:schemeClr val="dk1"/>
              </a:solidFill>
              <a:latin typeface="Calibri"/>
              <a:ea typeface="Calibri"/>
              <a:cs typeface="Calibri"/>
              <a:sym typeface="Calibri"/>
            </a:endParaRPr>
          </a:p>
        </p:txBody>
      </p:sp>
      <p:sp>
        <p:nvSpPr>
          <p:cNvPr id="79" name="Google Shape;79;p16"/>
          <p:cNvSpPr txBox="1"/>
          <p:nvPr/>
        </p:nvSpPr>
        <p:spPr>
          <a:xfrm>
            <a:off x="274320" y="928122"/>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Olist Brazilian E-Commerce Dtaset · 2016–2018</a:t>
            </a:r>
            <a:endParaRPr b="0" i="0" sz="1300" u="none" cap="none" strike="noStrike">
              <a:solidFill>
                <a:schemeClr val="dk1"/>
              </a:solidFill>
              <a:latin typeface="Calibri"/>
              <a:ea typeface="Calibri"/>
              <a:cs typeface="Calibri"/>
              <a:sym typeface="Calibri"/>
            </a:endParaRPr>
          </a:p>
        </p:txBody>
      </p:sp>
      <p:sp>
        <p:nvSpPr>
          <p:cNvPr id="80" name="Google Shape;80;p16"/>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274320" y="1005840"/>
            <a:ext cx="8595360" cy="868680"/>
          </a:xfrm>
          <a:prstGeom prst="roundRect">
            <a:avLst>
              <a:gd fmla="val 10526" name="adj"/>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txBox="1"/>
          <p:nvPr/>
        </p:nvSpPr>
        <p:spPr>
          <a:xfrm>
            <a:off x="411480" y="1078992"/>
            <a:ext cx="548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Calibri"/>
              <a:buNone/>
            </a:pPr>
            <a:r>
              <a:rPr b="0" i="0" lang="en" sz="2800" u="none" cap="none" strike="noStrike">
                <a:solidFill>
                  <a:srgbClr val="000000"/>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83" name="Google Shape;83;p16"/>
          <p:cNvSpPr txBox="1"/>
          <p:nvPr/>
        </p:nvSpPr>
        <p:spPr>
          <a:xfrm>
            <a:off x="1005840" y="10515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400"/>
              <a:buFont typeface="Calibri"/>
              <a:buNone/>
            </a:pPr>
            <a:r>
              <a:rPr b="1" i="0" lang="en" sz="1400" u="none" cap="none" strike="noStrike">
                <a:solidFill>
                  <a:srgbClr val="0F1F3D"/>
                </a:solidFill>
                <a:latin typeface="Calibri"/>
                <a:ea typeface="Calibri"/>
                <a:cs typeface="Calibri"/>
                <a:sym typeface="Calibri"/>
              </a:rPr>
              <a:t>Dataset: ~99,000 orders</a:t>
            </a:r>
            <a:endParaRPr b="0" i="0" sz="1400" u="none" cap="none" strike="noStrike">
              <a:solidFill>
                <a:schemeClr val="dk1"/>
              </a:solidFill>
              <a:latin typeface="Calibri"/>
              <a:ea typeface="Calibri"/>
              <a:cs typeface="Calibri"/>
              <a:sym typeface="Calibri"/>
            </a:endParaRPr>
          </a:p>
        </p:txBody>
      </p:sp>
      <p:sp>
        <p:nvSpPr>
          <p:cNvPr id="84" name="Google Shape;84;p16"/>
          <p:cNvSpPr txBox="1"/>
          <p:nvPr/>
        </p:nvSpPr>
        <p:spPr>
          <a:xfrm>
            <a:off x="1005840" y="141732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0" i="0" lang="en" sz="1150" u="none" cap="none" strike="noStrike">
                <a:solidFill>
                  <a:srgbClr val="1E293B"/>
                </a:solidFill>
                <a:latin typeface="Calibri"/>
                <a:ea typeface="Calibri"/>
                <a:cs typeface="Calibri"/>
                <a:sym typeface="Calibri"/>
              </a:rPr>
              <a:t>Merged from: orders · payments · reviews · products · sellers tables</a:t>
            </a:r>
            <a:endParaRPr b="0" i="0" sz="1150" u="none" cap="none" strike="noStrike">
              <a:solidFill>
                <a:schemeClr val="dk1"/>
              </a:solidFill>
              <a:latin typeface="Calibri"/>
              <a:ea typeface="Calibri"/>
              <a:cs typeface="Calibri"/>
              <a:sym typeface="Calibri"/>
            </a:endParaRPr>
          </a:p>
        </p:txBody>
      </p:sp>
      <p:sp>
        <p:nvSpPr>
          <p:cNvPr id="85" name="Google Shape;85;p16"/>
          <p:cNvSpPr/>
          <p:nvPr/>
        </p:nvSpPr>
        <p:spPr>
          <a:xfrm>
            <a:off x="274320" y="2011680"/>
            <a:ext cx="4160520" cy="2560320"/>
          </a:xfrm>
          <a:prstGeom prst="roundRect">
            <a:avLst>
              <a:gd fmla="val 3571" name="adj"/>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txBox="1"/>
          <p:nvPr/>
        </p:nvSpPr>
        <p:spPr>
          <a:xfrm>
            <a:off x="411480" y="2103120"/>
            <a:ext cx="3886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200"/>
              <a:buFont typeface="Calibri"/>
              <a:buNone/>
            </a:pPr>
            <a:r>
              <a:rPr b="1" i="0" lang="en" sz="1200" u="none" cap="none" strike="noStrike">
                <a:solidFill>
                  <a:srgbClr val="2563EB"/>
                </a:solidFill>
                <a:latin typeface="Calibri"/>
                <a:ea typeface="Calibri"/>
                <a:cs typeface="Calibri"/>
                <a:sym typeface="Calibri"/>
              </a:rPr>
              <a:t>🧹  Data Cleaning  (Python · Pandas)</a:t>
            </a:r>
            <a:endParaRPr b="0" i="0" sz="1200" u="none" cap="none" strike="noStrike">
              <a:solidFill>
                <a:schemeClr val="dk1"/>
              </a:solidFill>
              <a:latin typeface="Calibri"/>
              <a:ea typeface="Calibri"/>
              <a:cs typeface="Calibri"/>
              <a:sym typeface="Calibri"/>
            </a:endParaRPr>
          </a:p>
        </p:txBody>
      </p:sp>
      <p:sp>
        <p:nvSpPr>
          <p:cNvPr id="87" name="Google Shape;87;p16"/>
          <p:cNvSpPr txBox="1"/>
          <p:nvPr/>
        </p:nvSpPr>
        <p:spPr>
          <a:xfrm>
            <a:off x="457200" y="2542032"/>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Handled missing values across all tables</a:t>
            </a:r>
            <a:endParaRPr b="0" i="0" sz="1050" u="none" cap="none" strike="noStrike">
              <a:solidFill>
                <a:schemeClr val="dk1"/>
              </a:solidFill>
              <a:latin typeface="Calibri"/>
              <a:ea typeface="Calibri"/>
              <a:cs typeface="Calibri"/>
              <a:sym typeface="Calibri"/>
            </a:endParaRPr>
          </a:p>
        </p:txBody>
      </p:sp>
      <p:sp>
        <p:nvSpPr>
          <p:cNvPr id="88" name="Google Shape;88;p16"/>
          <p:cNvSpPr txBox="1"/>
          <p:nvPr/>
        </p:nvSpPr>
        <p:spPr>
          <a:xfrm>
            <a:off x="457200" y="2926080"/>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Removed duplicate records</a:t>
            </a:r>
            <a:endParaRPr b="0" i="0" sz="1050" u="none" cap="none" strike="noStrike">
              <a:solidFill>
                <a:schemeClr val="dk1"/>
              </a:solidFill>
              <a:latin typeface="Calibri"/>
              <a:ea typeface="Calibri"/>
              <a:cs typeface="Calibri"/>
              <a:sym typeface="Calibri"/>
            </a:endParaRPr>
          </a:p>
        </p:txBody>
      </p:sp>
      <p:sp>
        <p:nvSpPr>
          <p:cNvPr id="89" name="Google Shape;89;p16"/>
          <p:cNvSpPr txBox="1"/>
          <p:nvPr/>
        </p:nvSpPr>
        <p:spPr>
          <a:xfrm>
            <a:off x="457200" y="3310128"/>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Filtered statistical outliers</a:t>
            </a:r>
            <a:endParaRPr b="0" i="0" sz="1050" u="none" cap="none" strike="noStrike">
              <a:solidFill>
                <a:schemeClr val="dk1"/>
              </a:solidFill>
              <a:latin typeface="Calibri"/>
              <a:ea typeface="Calibri"/>
              <a:cs typeface="Calibri"/>
              <a:sym typeface="Calibri"/>
            </a:endParaRPr>
          </a:p>
        </p:txBody>
      </p:sp>
      <p:sp>
        <p:nvSpPr>
          <p:cNvPr id="90" name="Google Shape;90;p16"/>
          <p:cNvSpPr txBox="1"/>
          <p:nvPr/>
        </p:nvSpPr>
        <p:spPr>
          <a:xfrm>
            <a:off x="457200" y="3694176"/>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Created delivery-delay metric</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(estimated vs actual delivery date)</a:t>
            </a:r>
            <a:endParaRPr b="0" i="0" sz="1050" u="none" cap="none" strike="noStrike">
              <a:solidFill>
                <a:schemeClr val="dk1"/>
              </a:solidFill>
              <a:latin typeface="Calibri"/>
              <a:ea typeface="Calibri"/>
              <a:cs typeface="Calibri"/>
              <a:sym typeface="Calibri"/>
            </a:endParaRPr>
          </a:p>
        </p:txBody>
      </p:sp>
      <p:sp>
        <p:nvSpPr>
          <p:cNvPr id="91" name="Google Shape;91;p16"/>
          <p:cNvSpPr txBox="1"/>
          <p:nvPr/>
        </p:nvSpPr>
        <p:spPr>
          <a:xfrm>
            <a:off x="457200" y="4078224"/>
            <a:ext cx="3840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Merged tables on order_id</a:t>
            </a:r>
            <a:endParaRPr b="0" i="0" sz="1050" u="none" cap="none" strike="noStrike">
              <a:solidFill>
                <a:schemeClr val="dk1"/>
              </a:solidFill>
              <a:latin typeface="Calibri"/>
              <a:ea typeface="Calibri"/>
              <a:cs typeface="Calibri"/>
              <a:sym typeface="Calibri"/>
            </a:endParaRPr>
          </a:p>
        </p:txBody>
      </p:sp>
      <p:sp>
        <p:nvSpPr>
          <p:cNvPr id="92" name="Google Shape;92;p16"/>
          <p:cNvSpPr/>
          <p:nvPr/>
        </p:nvSpPr>
        <p:spPr>
          <a:xfrm>
            <a:off x="4709160" y="2011680"/>
            <a:ext cx="4160520" cy="2560320"/>
          </a:xfrm>
          <a:prstGeom prst="roundRect">
            <a:avLst>
              <a:gd fmla="val 3571" name="adj"/>
            </a:avLst>
          </a:prstGeom>
          <a:solidFill>
            <a:srgbClr val="F1F5F9"/>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txBox="1"/>
          <p:nvPr/>
        </p:nvSpPr>
        <p:spPr>
          <a:xfrm>
            <a:off x="4846320" y="2103120"/>
            <a:ext cx="3886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A5E9"/>
              </a:buClr>
              <a:buSzPts val="1200"/>
              <a:buFont typeface="Calibri"/>
              <a:buNone/>
            </a:pPr>
            <a:r>
              <a:rPr b="1" i="0" lang="en" sz="1200" u="none" cap="none" strike="noStrike">
                <a:solidFill>
                  <a:srgbClr val="0EA5E9"/>
                </a:solidFill>
                <a:latin typeface="Calibri"/>
                <a:ea typeface="Calibri"/>
                <a:cs typeface="Calibri"/>
                <a:sym typeface="Calibri"/>
              </a:rPr>
              <a:t>📊  Visualization  (Looker Studio)</a:t>
            </a:r>
            <a:endParaRPr b="0" i="0" sz="1200" u="none" cap="none" strike="noStrike">
              <a:solidFill>
                <a:schemeClr val="dk1"/>
              </a:solidFill>
              <a:latin typeface="Calibri"/>
              <a:ea typeface="Calibri"/>
              <a:cs typeface="Calibri"/>
              <a:sym typeface="Calibri"/>
            </a:endParaRPr>
          </a:p>
        </p:txBody>
      </p:sp>
      <p:sp>
        <p:nvSpPr>
          <p:cNvPr id="94" name="Google Shape;94;p16"/>
          <p:cNvSpPr txBox="1"/>
          <p:nvPr/>
        </p:nvSpPr>
        <p:spPr>
          <a:xfrm>
            <a:off x="4846320" y="2542032"/>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Review score distributions</a:t>
            </a:r>
            <a:endParaRPr b="0" i="0" sz="1050" u="none" cap="none" strike="noStrike">
              <a:solidFill>
                <a:schemeClr val="dk1"/>
              </a:solidFill>
              <a:latin typeface="Calibri"/>
              <a:ea typeface="Calibri"/>
              <a:cs typeface="Calibri"/>
              <a:sym typeface="Calibri"/>
            </a:endParaRPr>
          </a:p>
        </p:txBody>
      </p:sp>
      <p:sp>
        <p:nvSpPr>
          <p:cNvPr id="95" name="Google Shape;95;p16"/>
          <p:cNvSpPr txBox="1"/>
          <p:nvPr/>
        </p:nvSpPr>
        <p:spPr>
          <a:xfrm>
            <a:off x="4846320" y="2926080"/>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Late vs on-time order breakdowns</a:t>
            </a:r>
            <a:endParaRPr b="0" i="0" sz="1050" u="none" cap="none" strike="noStrike">
              <a:solidFill>
                <a:schemeClr val="dk1"/>
              </a:solidFill>
              <a:latin typeface="Calibri"/>
              <a:ea typeface="Calibri"/>
              <a:cs typeface="Calibri"/>
              <a:sym typeface="Calibri"/>
            </a:endParaRPr>
          </a:p>
        </p:txBody>
      </p:sp>
      <p:sp>
        <p:nvSpPr>
          <p:cNvPr id="96" name="Google Shape;96;p16"/>
          <p:cNvSpPr txBox="1"/>
          <p:nvPr/>
        </p:nvSpPr>
        <p:spPr>
          <a:xfrm>
            <a:off x="4846320" y="3310128"/>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Payment method analysis</a:t>
            </a:r>
            <a:endParaRPr b="0" i="0" sz="1050" u="none" cap="none" strike="noStrike">
              <a:solidFill>
                <a:schemeClr val="dk1"/>
              </a:solidFill>
              <a:latin typeface="Calibri"/>
              <a:ea typeface="Calibri"/>
              <a:cs typeface="Calibri"/>
              <a:sym typeface="Calibri"/>
            </a:endParaRPr>
          </a:p>
        </p:txBody>
      </p:sp>
      <p:sp>
        <p:nvSpPr>
          <p:cNvPr id="97" name="Google Shape;97;p16"/>
          <p:cNvSpPr txBox="1"/>
          <p:nvPr/>
        </p:nvSpPr>
        <p:spPr>
          <a:xfrm>
            <a:off x="4846320" y="3694176"/>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Category-level revenue breakdown</a:t>
            </a:r>
            <a:endParaRPr b="0" i="0" sz="1050" u="none" cap="none" strike="noStrike">
              <a:solidFill>
                <a:schemeClr val="dk1"/>
              </a:solidFill>
              <a:latin typeface="Calibri"/>
              <a:ea typeface="Calibri"/>
              <a:cs typeface="Calibri"/>
              <a:sym typeface="Calibri"/>
            </a:endParaRPr>
          </a:p>
        </p:txBody>
      </p:sp>
      <p:sp>
        <p:nvSpPr>
          <p:cNvPr id="98" name="Google Shape;98;p16"/>
          <p:cNvSpPr txBox="1"/>
          <p:nvPr/>
        </p:nvSpPr>
        <p:spPr>
          <a:xfrm>
            <a:off x="4846320" y="4078224"/>
            <a:ext cx="3886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  Correlation heat-maps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7"/>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Key Findings</a:t>
            </a:r>
            <a:endParaRPr b="0" i="0" sz="2400" u="none" cap="none" strike="noStrike">
              <a:solidFill>
                <a:schemeClr val="dk1"/>
              </a:solidFill>
              <a:latin typeface="Calibri"/>
              <a:ea typeface="Calibri"/>
              <a:cs typeface="Calibri"/>
              <a:sym typeface="Calibri"/>
            </a:endParaRPr>
          </a:p>
        </p:txBody>
      </p:sp>
      <p:sp>
        <p:nvSpPr>
          <p:cNvPr id="106" name="Google Shape;106;p17"/>
          <p:cNvSpPr txBox="1"/>
          <p:nvPr/>
        </p:nvSpPr>
        <p:spPr>
          <a:xfrm>
            <a:off x="274320" y="672097"/>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5 data-backed insights from the Olist analysis</a:t>
            </a:r>
            <a:endParaRPr b="0" i="0" sz="1300" u="none" cap="none" strike="noStrike">
              <a:solidFill>
                <a:schemeClr val="dk1"/>
              </a:solidFill>
              <a:latin typeface="Calibri"/>
              <a:ea typeface="Calibri"/>
              <a:cs typeface="Calibri"/>
              <a:sym typeface="Calibri"/>
            </a:endParaRPr>
          </a:p>
        </p:txBody>
      </p:sp>
      <p:sp>
        <p:nvSpPr>
          <p:cNvPr id="107" name="Google Shape;107;p17"/>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a:off x="274320" y="1024128"/>
            <a:ext cx="2743200" cy="1508760"/>
          </a:xfrm>
          <a:prstGeom prst="roundRect">
            <a:avLst>
              <a:gd fmla="val 6061"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p:nvPr/>
        </p:nvSpPr>
        <p:spPr>
          <a:xfrm>
            <a:off x="274320" y="1024128"/>
            <a:ext cx="2743200" cy="64008"/>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txBox="1"/>
          <p:nvPr/>
        </p:nvSpPr>
        <p:spPr>
          <a:xfrm>
            <a:off x="365760" y="1133856"/>
            <a:ext cx="2560320"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2800"/>
              <a:buFont typeface="Calibri"/>
              <a:buNone/>
            </a:pPr>
            <a:r>
              <a:rPr b="1" i="0" lang="en" sz="2800" u="none" cap="none" strike="noStrike">
                <a:solidFill>
                  <a:srgbClr val="EF4444"/>
                </a:solidFill>
                <a:latin typeface="Calibri"/>
                <a:ea typeface="Calibri"/>
                <a:cs typeface="Calibri"/>
                <a:sym typeface="Calibri"/>
              </a:rPr>
              <a:t>6.5%</a:t>
            </a:r>
            <a:endParaRPr b="0" i="0" sz="2800" u="none" cap="none" strike="noStrike">
              <a:solidFill>
                <a:schemeClr val="dk1"/>
              </a:solidFill>
              <a:latin typeface="Calibri"/>
              <a:ea typeface="Calibri"/>
              <a:cs typeface="Calibri"/>
              <a:sym typeface="Calibri"/>
            </a:endParaRPr>
          </a:p>
        </p:txBody>
      </p:sp>
      <p:sp>
        <p:nvSpPr>
          <p:cNvPr id="111" name="Google Shape;111;p17"/>
          <p:cNvSpPr txBox="1"/>
          <p:nvPr/>
        </p:nvSpPr>
        <p:spPr>
          <a:xfrm>
            <a:off x="320040" y="1853946"/>
            <a:ext cx="26517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Orders delivered</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late</a:t>
            </a:r>
            <a:endParaRPr b="0" i="0" sz="1000" u="none" cap="none" strike="noStrike">
              <a:solidFill>
                <a:schemeClr val="dk1"/>
              </a:solidFill>
              <a:latin typeface="Calibri"/>
              <a:ea typeface="Calibri"/>
              <a:cs typeface="Calibri"/>
              <a:sym typeface="Calibri"/>
            </a:endParaRPr>
          </a:p>
        </p:txBody>
      </p:sp>
      <p:sp>
        <p:nvSpPr>
          <p:cNvPr id="112" name="Google Shape;112;p17"/>
          <p:cNvSpPr/>
          <p:nvPr/>
        </p:nvSpPr>
        <p:spPr>
          <a:xfrm>
            <a:off x="3246120" y="1024128"/>
            <a:ext cx="2743200" cy="1508760"/>
          </a:xfrm>
          <a:prstGeom prst="roundRect">
            <a:avLst>
              <a:gd fmla="val 6061"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7"/>
          <p:cNvSpPr/>
          <p:nvPr/>
        </p:nvSpPr>
        <p:spPr>
          <a:xfrm>
            <a:off x="3246120" y="1024128"/>
            <a:ext cx="2743200" cy="64008"/>
          </a:xfrm>
          <a:prstGeom prst="rect">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7"/>
          <p:cNvSpPr txBox="1"/>
          <p:nvPr/>
        </p:nvSpPr>
        <p:spPr>
          <a:xfrm>
            <a:off x="3337560" y="1133856"/>
            <a:ext cx="2560320"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F4444"/>
              </a:buClr>
              <a:buSzPts val="2800"/>
              <a:buFont typeface="Calibri"/>
              <a:buNone/>
            </a:pPr>
            <a:r>
              <a:rPr b="1" i="0" lang="en" sz="2800" u="none" cap="none" strike="noStrike">
                <a:solidFill>
                  <a:srgbClr val="EF4444"/>
                </a:solidFill>
                <a:latin typeface="Calibri"/>
                <a:ea typeface="Calibri"/>
                <a:cs typeface="Calibri"/>
                <a:sym typeface="Calibri"/>
              </a:rPr>
              <a:t>2.32 ★</a:t>
            </a:r>
            <a:endParaRPr b="0" i="0" sz="2800" u="none" cap="none" strike="noStrike">
              <a:solidFill>
                <a:schemeClr val="dk1"/>
              </a:solidFill>
              <a:latin typeface="Calibri"/>
              <a:ea typeface="Calibri"/>
              <a:cs typeface="Calibri"/>
              <a:sym typeface="Calibri"/>
            </a:endParaRPr>
          </a:p>
        </p:txBody>
      </p:sp>
      <p:sp>
        <p:nvSpPr>
          <p:cNvPr id="115" name="Google Shape;115;p17"/>
          <p:cNvSpPr txBox="1"/>
          <p:nvPr/>
        </p:nvSpPr>
        <p:spPr>
          <a:xfrm>
            <a:off x="3291840" y="1853946"/>
            <a:ext cx="26517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Avg review score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(late orders)</a:t>
            </a:r>
            <a:endParaRPr b="0" i="0" sz="1000" u="none" cap="none" strike="noStrike">
              <a:solidFill>
                <a:schemeClr val="dk1"/>
              </a:solidFill>
              <a:latin typeface="Calibri"/>
              <a:ea typeface="Calibri"/>
              <a:cs typeface="Calibri"/>
              <a:sym typeface="Calibri"/>
            </a:endParaRPr>
          </a:p>
        </p:txBody>
      </p:sp>
      <p:sp>
        <p:nvSpPr>
          <p:cNvPr id="116" name="Google Shape;116;p17"/>
          <p:cNvSpPr/>
          <p:nvPr/>
        </p:nvSpPr>
        <p:spPr>
          <a:xfrm>
            <a:off x="6217920" y="1024128"/>
            <a:ext cx="2743200" cy="1508760"/>
          </a:xfrm>
          <a:prstGeom prst="roundRect">
            <a:avLst>
              <a:gd fmla="val 6061"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7"/>
          <p:cNvSpPr/>
          <p:nvPr/>
        </p:nvSpPr>
        <p:spPr>
          <a:xfrm>
            <a:off x="6217920" y="1024128"/>
            <a:ext cx="2743200" cy="6400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7"/>
          <p:cNvSpPr txBox="1"/>
          <p:nvPr/>
        </p:nvSpPr>
        <p:spPr>
          <a:xfrm>
            <a:off x="6309360" y="1133856"/>
            <a:ext cx="2560320"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2800"/>
              <a:buFont typeface="Calibri"/>
              <a:buNone/>
            </a:pPr>
            <a:r>
              <a:rPr b="1" i="0" lang="en" sz="2800" u="none" cap="none" strike="noStrike">
                <a:solidFill>
                  <a:srgbClr val="10B981"/>
                </a:solidFill>
                <a:latin typeface="Calibri"/>
                <a:ea typeface="Calibri"/>
                <a:cs typeface="Calibri"/>
                <a:sym typeface="Calibri"/>
              </a:rPr>
              <a:t>4.21 ★</a:t>
            </a:r>
            <a:endParaRPr b="0" i="0" sz="2800" u="none" cap="none" strike="noStrike">
              <a:solidFill>
                <a:schemeClr val="dk1"/>
              </a:solidFill>
              <a:latin typeface="Calibri"/>
              <a:ea typeface="Calibri"/>
              <a:cs typeface="Calibri"/>
              <a:sym typeface="Calibri"/>
            </a:endParaRPr>
          </a:p>
        </p:txBody>
      </p:sp>
      <p:sp>
        <p:nvSpPr>
          <p:cNvPr id="119" name="Google Shape;119;p17"/>
          <p:cNvSpPr txBox="1"/>
          <p:nvPr/>
        </p:nvSpPr>
        <p:spPr>
          <a:xfrm>
            <a:off x="6263640" y="1853946"/>
            <a:ext cx="265176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Avg review score</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(on-time orders)</a:t>
            </a:r>
            <a:endParaRPr b="0" i="0" sz="1000" u="none" cap="none" strike="noStrike">
              <a:solidFill>
                <a:schemeClr val="dk1"/>
              </a:solidFill>
              <a:latin typeface="Calibri"/>
              <a:ea typeface="Calibri"/>
              <a:cs typeface="Calibri"/>
              <a:sym typeface="Calibri"/>
            </a:endParaRPr>
          </a:p>
        </p:txBody>
      </p:sp>
      <p:sp>
        <p:nvSpPr>
          <p:cNvPr id="120" name="Google Shape;120;p17"/>
          <p:cNvSpPr/>
          <p:nvPr/>
        </p:nvSpPr>
        <p:spPr>
          <a:xfrm>
            <a:off x="914400" y="2724912"/>
            <a:ext cx="3474720" cy="1508760"/>
          </a:xfrm>
          <a:prstGeom prst="roundRect">
            <a:avLst>
              <a:gd fmla="val 6061"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914400" y="2724912"/>
            <a:ext cx="3474720" cy="64008"/>
          </a:xfrm>
          <a:prstGeom prst="rect">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txBox="1"/>
          <p:nvPr/>
        </p:nvSpPr>
        <p:spPr>
          <a:xfrm>
            <a:off x="1005840" y="2834640"/>
            <a:ext cx="3291840"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2800"/>
              <a:buFont typeface="Calibri"/>
              <a:buNone/>
            </a:pPr>
            <a:r>
              <a:rPr b="1" i="0" lang="en" sz="2800" u="none" cap="none" strike="noStrike">
                <a:solidFill>
                  <a:srgbClr val="F59E0B"/>
                </a:solidFill>
                <a:latin typeface="Calibri"/>
                <a:ea typeface="Calibri"/>
                <a:cs typeface="Calibri"/>
                <a:sym typeface="Calibri"/>
              </a:rPr>
              <a:t>−0.045</a:t>
            </a:r>
            <a:endParaRPr b="0" i="0" sz="2800" u="none" cap="none" strike="noStrike">
              <a:solidFill>
                <a:schemeClr val="dk1"/>
              </a:solidFill>
              <a:latin typeface="Calibri"/>
              <a:ea typeface="Calibri"/>
              <a:cs typeface="Calibri"/>
              <a:sym typeface="Calibri"/>
            </a:endParaRPr>
          </a:p>
        </p:txBody>
      </p:sp>
      <p:sp>
        <p:nvSpPr>
          <p:cNvPr id="123" name="Google Shape;123;p17"/>
          <p:cNvSpPr txBox="1"/>
          <p:nvPr/>
        </p:nvSpPr>
        <p:spPr>
          <a:xfrm>
            <a:off x="960120" y="3554730"/>
            <a:ext cx="33832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Correlation: delay</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vs freight cost</a:t>
            </a:r>
            <a:endParaRPr b="0" i="0" sz="1000" u="none" cap="none" strike="noStrike">
              <a:solidFill>
                <a:schemeClr val="dk1"/>
              </a:solidFill>
              <a:latin typeface="Calibri"/>
              <a:ea typeface="Calibri"/>
              <a:cs typeface="Calibri"/>
              <a:sym typeface="Calibri"/>
            </a:endParaRPr>
          </a:p>
        </p:txBody>
      </p:sp>
      <p:sp>
        <p:nvSpPr>
          <p:cNvPr id="124" name="Google Shape;124;p17"/>
          <p:cNvSpPr/>
          <p:nvPr/>
        </p:nvSpPr>
        <p:spPr>
          <a:xfrm>
            <a:off x="4754880" y="2724912"/>
            <a:ext cx="3474720" cy="1508760"/>
          </a:xfrm>
          <a:prstGeom prst="roundRect">
            <a:avLst>
              <a:gd fmla="val 6061"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4754880" y="2724912"/>
            <a:ext cx="3474720" cy="64008"/>
          </a:xfrm>
          <a:prstGeom prst="rect">
            <a:avLst/>
          </a:prstGeom>
          <a:solidFill>
            <a:srgbClr val="1A3A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txBox="1"/>
          <p:nvPr/>
        </p:nvSpPr>
        <p:spPr>
          <a:xfrm>
            <a:off x="4846320" y="2834640"/>
            <a:ext cx="3291840" cy="7543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A6E"/>
              </a:buClr>
              <a:buSzPts val="2800"/>
              <a:buFont typeface="Calibri"/>
              <a:buNone/>
            </a:pPr>
            <a:r>
              <a:rPr b="1" i="0" lang="en" sz="2800" u="none" cap="none" strike="noStrike">
                <a:solidFill>
                  <a:srgbClr val="1A3A6E"/>
                </a:solidFill>
                <a:latin typeface="Calibri"/>
                <a:ea typeface="Calibri"/>
                <a:cs typeface="Calibri"/>
                <a:sym typeface="Calibri"/>
              </a:rPr>
              <a:t>73.8%</a:t>
            </a:r>
            <a:endParaRPr b="0" i="0" sz="2800" u="none" cap="none" strike="noStrike">
              <a:solidFill>
                <a:schemeClr val="dk1"/>
              </a:solidFill>
              <a:latin typeface="Calibri"/>
              <a:ea typeface="Calibri"/>
              <a:cs typeface="Calibri"/>
              <a:sym typeface="Calibri"/>
            </a:endParaRPr>
          </a:p>
        </p:txBody>
      </p:sp>
      <p:sp>
        <p:nvSpPr>
          <p:cNvPr id="127" name="Google Shape;127;p17"/>
          <p:cNvSpPr txBox="1"/>
          <p:nvPr/>
        </p:nvSpPr>
        <p:spPr>
          <a:xfrm>
            <a:off x="4800600" y="3554730"/>
            <a:ext cx="338328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Orders paid by</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credit card</a:t>
            </a:r>
            <a:endParaRPr b="0" i="0" sz="1000" u="none" cap="none" strike="noStrike">
              <a:solidFill>
                <a:schemeClr val="dk1"/>
              </a:solidFill>
              <a:latin typeface="Calibri"/>
              <a:ea typeface="Calibri"/>
              <a:cs typeface="Calibri"/>
              <a:sym typeface="Calibri"/>
            </a:endParaRPr>
          </a:p>
        </p:txBody>
      </p:sp>
      <p:sp>
        <p:nvSpPr>
          <p:cNvPr id="128" name="Google Shape;128;p17"/>
          <p:cNvSpPr/>
          <p:nvPr/>
        </p:nvSpPr>
        <p:spPr>
          <a:xfrm>
            <a:off x="274320" y="4389120"/>
            <a:ext cx="8595360" cy="502920"/>
          </a:xfrm>
          <a:prstGeom prst="roundRect">
            <a:avLst>
              <a:gd fmla="val 14545" name="adj"/>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457200" y="44531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1150"/>
              <a:buFont typeface="Calibri"/>
              <a:buNone/>
            </a:pPr>
            <a:r>
              <a:rPr b="1" i="0" lang="en" sz="1150" u="none" cap="none" strike="noStrike">
                <a:solidFill>
                  <a:srgbClr val="2563EB"/>
                </a:solidFill>
                <a:latin typeface="Calibri"/>
                <a:ea typeface="Calibri"/>
                <a:cs typeface="Calibri"/>
                <a:sym typeface="Calibri"/>
              </a:rPr>
              <a:t>⚡  Late deliveries drive a ~45% drop in review scores — the single biggest satisfaction lever identified.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8"/>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8"/>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Deep-Dive: Delivery Delay &amp; Satisfaction</a:t>
            </a:r>
            <a:endParaRPr b="0" i="0" sz="2400" u="none" cap="none" strike="noStrike">
              <a:solidFill>
                <a:schemeClr val="dk1"/>
              </a:solidFill>
              <a:latin typeface="Calibri"/>
              <a:ea typeface="Calibri"/>
              <a:cs typeface="Calibri"/>
              <a:sym typeface="Calibri"/>
            </a:endParaRPr>
          </a:p>
        </p:txBody>
      </p:sp>
      <p:sp>
        <p:nvSpPr>
          <p:cNvPr id="137" name="Google Shape;137;p18"/>
          <p:cNvSpPr txBox="1"/>
          <p:nvPr/>
        </p:nvSpPr>
        <p:spPr>
          <a:xfrm>
            <a:off x="274320" y="749822"/>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Impact analysis — review score by delivery status</a:t>
            </a:r>
            <a:endParaRPr b="0" i="0" sz="1300" u="none" cap="none" strike="noStrike">
              <a:solidFill>
                <a:schemeClr val="dk1"/>
              </a:solidFill>
              <a:latin typeface="Calibri"/>
              <a:ea typeface="Calibri"/>
              <a:cs typeface="Calibri"/>
              <a:sym typeface="Calibri"/>
            </a:endParaRPr>
          </a:p>
        </p:txBody>
      </p:sp>
      <p:sp>
        <p:nvSpPr>
          <p:cNvPr id="138" name="Google Shape;138;p18"/>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8"/>
          <p:cNvPicPr preferRelativeResize="0"/>
          <p:nvPr/>
        </p:nvPicPr>
        <p:blipFill rotWithShape="1">
          <a:blip r:embed="rId3">
            <a:alphaModFix/>
          </a:blip>
          <a:srcRect b="0" l="0" r="0" t="0"/>
          <a:stretch/>
        </p:blipFill>
        <p:spPr>
          <a:xfrm>
            <a:off x="274320" y="1051560"/>
            <a:ext cx="4389120" cy="3200400"/>
          </a:xfrm>
          <a:prstGeom prst="rect">
            <a:avLst/>
          </a:prstGeom>
          <a:noFill/>
          <a:ln>
            <a:noFill/>
          </a:ln>
        </p:spPr>
      </p:pic>
      <p:sp>
        <p:nvSpPr>
          <p:cNvPr id="140" name="Google Shape;140;p18"/>
          <p:cNvSpPr/>
          <p:nvPr/>
        </p:nvSpPr>
        <p:spPr>
          <a:xfrm>
            <a:off x="4892040" y="1051560"/>
            <a:ext cx="3977640" cy="3200400"/>
          </a:xfrm>
          <a:prstGeom prst="roundRect">
            <a:avLst>
              <a:gd fmla="val 3429" name="adj"/>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8"/>
          <p:cNvSpPr txBox="1"/>
          <p:nvPr/>
        </p:nvSpPr>
        <p:spPr>
          <a:xfrm>
            <a:off x="5074920" y="1188720"/>
            <a:ext cx="3657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300"/>
              <a:buFont typeface="Calibri"/>
              <a:buNone/>
            </a:pPr>
            <a:r>
              <a:rPr b="1" i="0" lang="en" sz="1300" u="none" cap="none" strike="noStrike">
                <a:solidFill>
                  <a:srgbClr val="F59E0B"/>
                </a:solidFill>
                <a:latin typeface="Calibri"/>
                <a:ea typeface="Calibri"/>
                <a:cs typeface="Calibri"/>
                <a:sym typeface="Calibri"/>
              </a:rPr>
              <a:t>📌  The Core Insight</a:t>
            </a:r>
            <a:endParaRPr b="0" i="0" sz="1300" u="none" cap="none" strike="noStrike">
              <a:solidFill>
                <a:schemeClr val="dk1"/>
              </a:solidFill>
              <a:latin typeface="Calibri"/>
              <a:ea typeface="Calibri"/>
              <a:cs typeface="Calibri"/>
              <a:sym typeface="Calibri"/>
            </a:endParaRPr>
          </a:p>
        </p:txBody>
      </p:sp>
      <p:sp>
        <p:nvSpPr>
          <p:cNvPr id="142" name="Google Shape;142;p18"/>
          <p:cNvSpPr txBox="1"/>
          <p:nvPr/>
        </p:nvSpPr>
        <p:spPr>
          <a:xfrm>
            <a:off x="5074920" y="1719072"/>
            <a:ext cx="3611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 sz="1100" u="none" cap="none" strike="noStrike">
                <a:solidFill>
                  <a:srgbClr val="F59E0B"/>
                </a:solidFill>
                <a:latin typeface="Calibri"/>
                <a:ea typeface="Calibri"/>
                <a:cs typeface="Calibri"/>
                <a:sym typeface="Calibri"/>
              </a:rPr>
              <a:t>●  </a:t>
            </a:r>
            <a:r>
              <a:rPr b="1" i="0" lang="en" sz="1100" u="none" cap="none" strike="noStrike">
                <a:solidFill>
                  <a:srgbClr val="0F1F3D"/>
                </a:solidFill>
                <a:latin typeface="Calibri"/>
                <a:ea typeface="Calibri"/>
                <a:cs typeface="Calibri"/>
                <a:sym typeface="Calibri"/>
              </a:rPr>
              <a:t>~45% review score drop</a:t>
            </a:r>
            <a:r>
              <a:rPr b="0" i="0" lang="en" sz="1100" u="none" cap="none" strike="noStrike">
                <a:solidFill>
                  <a:srgbClr val="1E293B"/>
                </a:solidFill>
                <a:latin typeface="Calibri"/>
                <a:ea typeface="Calibri"/>
                <a:cs typeface="Calibri"/>
                <a:sym typeface="Calibri"/>
              </a:rPr>
              <a:t> when an order is late.</a:t>
            </a:r>
            <a:endParaRPr b="0" i="0" sz="1100" u="none" cap="none" strike="noStrike">
              <a:solidFill>
                <a:schemeClr val="dk1"/>
              </a:solidFill>
              <a:latin typeface="Calibri"/>
              <a:ea typeface="Calibri"/>
              <a:cs typeface="Calibri"/>
              <a:sym typeface="Calibri"/>
            </a:endParaRPr>
          </a:p>
        </p:txBody>
      </p:sp>
      <p:sp>
        <p:nvSpPr>
          <p:cNvPr id="143" name="Google Shape;143;p18"/>
          <p:cNvSpPr txBox="1"/>
          <p:nvPr/>
        </p:nvSpPr>
        <p:spPr>
          <a:xfrm>
            <a:off x="5074920" y="2313432"/>
            <a:ext cx="3611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 sz="1100" u="none" cap="none" strike="noStrike">
                <a:solidFill>
                  <a:srgbClr val="F59E0B"/>
                </a:solidFill>
                <a:latin typeface="Calibri"/>
                <a:ea typeface="Calibri"/>
                <a:cs typeface="Calibri"/>
                <a:sym typeface="Calibri"/>
              </a:rPr>
              <a:t>●  </a:t>
            </a:r>
            <a:r>
              <a:rPr b="1" i="0" lang="en" sz="1100" u="none" cap="none" strike="noStrike">
                <a:solidFill>
                  <a:srgbClr val="0F1F3D"/>
                </a:solidFill>
                <a:latin typeface="Calibri"/>
                <a:ea typeface="Calibri"/>
                <a:cs typeface="Calibri"/>
                <a:sym typeface="Calibri"/>
              </a:rPr>
              <a:t>Only 6.5% of orders</a:t>
            </a:r>
            <a:r>
              <a:rPr b="0" i="0" lang="en" sz="1100" u="none" cap="none" strike="noStrike">
                <a:solidFill>
                  <a:srgbClr val="1E293B"/>
                </a:solidFill>
                <a:latin typeface="Calibri"/>
                <a:ea typeface="Calibri"/>
                <a:cs typeface="Calibri"/>
                <a:sym typeface="Calibri"/>
              </a:rPr>
              <a:t> are late — the problem is targeted, not systemic.</a:t>
            </a:r>
            <a:endParaRPr b="0" i="0" sz="1100" u="none" cap="none" strike="noStrike">
              <a:solidFill>
                <a:schemeClr val="dk1"/>
              </a:solidFill>
              <a:latin typeface="Calibri"/>
              <a:ea typeface="Calibri"/>
              <a:cs typeface="Calibri"/>
              <a:sym typeface="Calibri"/>
            </a:endParaRPr>
          </a:p>
        </p:txBody>
      </p:sp>
      <p:sp>
        <p:nvSpPr>
          <p:cNvPr id="144" name="Google Shape;144;p18"/>
          <p:cNvSpPr txBox="1"/>
          <p:nvPr/>
        </p:nvSpPr>
        <p:spPr>
          <a:xfrm>
            <a:off x="5074920" y="2907792"/>
            <a:ext cx="3611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 sz="1100" u="none" cap="none" strike="noStrike">
                <a:solidFill>
                  <a:srgbClr val="F59E0B"/>
                </a:solidFill>
                <a:latin typeface="Calibri"/>
                <a:ea typeface="Calibri"/>
                <a:cs typeface="Calibri"/>
                <a:sym typeface="Calibri"/>
              </a:rPr>
              <a:t>●  </a:t>
            </a:r>
            <a:r>
              <a:rPr b="1" i="0" lang="en" sz="1100" u="none" cap="none" strike="noStrike">
                <a:solidFill>
                  <a:srgbClr val="0F1F3D"/>
                </a:solidFill>
                <a:latin typeface="Calibri"/>
                <a:ea typeface="Calibri"/>
                <a:cs typeface="Calibri"/>
                <a:sym typeface="Calibri"/>
              </a:rPr>
              <a:t>Focused fixes</a:t>
            </a:r>
            <a:r>
              <a:rPr b="0" i="0" lang="en" sz="1100" u="none" cap="none" strike="noStrike">
                <a:solidFill>
                  <a:srgbClr val="1E293B"/>
                </a:solidFill>
                <a:latin typeface="Calibri"/>
                <a:ea typeface="Calibri"/>
                <a:cs typeface="Calibri"/>
                <a:sym typeface="Calibri"/>
              </a:rPr>
              <a:t> on this narrow segment can meaningfully lift overall satisfaction.</a:t>
            </a:r>
            <a:endParaRPr b="0" i="0" sz="1100" u="none" cap="none" strike="noStrike">
              <a:solidFill>
                <a:schemeClr val="dk1"/>
              </a:solidFill>
              <a:latin typeface="Calibri"/>
              <a:ea typeface="Calibri"/>
              <a:cs typeface="Calibri"/>
              <a:sym typeface="Calibri"/>
            </a:endParaRPr>
          </a:p>
        </p:txBody>
      </p:sp>
      <p:sp>
        <p:nvSpPr>
          <p:cNvPr id="145" name="Google Shape;145;p18"/>
          <p:cNvSpPr txBox="1"/>
          <p:nvPr/>
        </p:nvSpPr>
        <p:spPr>
          <a:xfrm>
            <a:off x="5074920" y="3502152"/>
            <a:ext cx="3611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00"/>
              <a:buFont typeface="Calibri"/>
              <a:buNone/>
            </a:pPr>
            <a:r>
              <a:rPr b="1" i="0" lang="en" sz="1100" u="none" cap="none" strike="noStrike">
                <a:solidFill>
                  <a:srgbClr val="F59E0B"/>
                </a:solidFill>
                <a:latin typeface="Calibri"/>
                <a:ea typeface="Calibri"/>
                <a:cs typeface="Calibri"/>
                <a:sym typeface="Calibri"/>
              </a:rPr>
              <a:t>●  </a:t>
            </a:r>
            <a:r>
              <a:rPr b="1" i="0" lang="en" sz="1100" u="none" cap="none" strike="noStrike">
                <a:solidFill>
                  <a:srgbClr val="0F1F3D"/>
                </a:solidFill>
                <a:latin typeface="Calibri"/>
                <a:ea typeface="Calibri"/>
                <a:cs typeface="Calibri"/>
                <a:sym typeface="Calibri"/>
              </a:rPr>
              <a:t>No need to overhaul</a:t>
            </a:r>
            <a:r>
              <a:rPr b="0" i="0" lang="en" sz="1100" u="none" cap="none" strike="noStrike">
                <a:solidFill>
                  <a:srgbClr val="1E293B"/>
                </a:solidFill>
                <a:latin typeface="Calibri"/>
                <a:ea typeface="Calibri"/>
                <a:cs typeface="Calibri"/>
                <a:sym typeface="Calibri"/>
              </a:rPr>
              <a:t> the entire logistics chain — precision beats scale here.</a:t>
            </a:r>
            <a:endParaRPr b="0" i="0" sz="1100" u="none" cap="none" strike="noStrike">
              <a:solidFill>
                <a:schemeClr val="dk1"/>
              </a:solidFill>
              <a:latin typeface="Calibri"/>
              <a:ea typeface="Calibri"/>
              <a:cs typeface="Calibri"/>
              <a:sym typeface="Calibri"/>
            </a:endParaRPr>
          </a:p>
        </p:txBody>
      </p:sp>
      <p:sp>
        <p:nvSpPr>
          <p:cNvPr id="146" name="Google Shape;146;p18"/>
          <p:cNvSpPr/>
          <p:nvPr/>
        </p:nvSpPr>
        <p:spPr>
          <a:xfrm>
            <a:off x="274320" y="4389120"/>
            <a:ext cx="8595360" cy="502920"/>
          </a:xfrm>
          <a:prstGeom prst="roundRect">
            <a:avLst>
              <a:gd fmla="val 14545" name="adj"/>
            </a:avLst>
          </a:prstGeom>
          <a:solidFill>
            <a:srgbClr val="FEF2F2"/>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txBox="1"/>
          <p:nvPr/>
        </p:nvSpPr>
        <p:spPr>
          <a:xfrm>
            <a:off x="457200" y="44531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100"/>
              <a:buFont typeface="Calibri"/>
              <a:buNone/>
            </a:pPr>
            <a:r>
              <a:rPr b="1" i="0" lang="en" sz="1100" u="none" cap="none" strike="noStrike">
                <a:solidFill>
                  <a:srgbClr val="EF4444"/>
                </a:solidFill>
                <a:latin typeface="Calibri"/>
                <a:ea typeface="Calibri"/>
                <a:cs typeface="Calibri"/>
                <a:sym typeface="Calibri"/>
              </a:rPr>
              <a:t>🎯  Fixing the 6.5% late segment is a high-ROI, low-effort opportunity relative to the overall satisfaction impact.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9"/>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Strategic Recommendations</a:t>
            </a:r>
            <a:endParaRPr b="0" i="0" sz="2400" u="none" cap="none" strike="noStrike">
              <a:solidFill>
                <a:schemeClr val="dk1"/>
              </a:solidFill>
              <a:latin typeface="Calibri"/>
              <a:ea typeface="Calibri"/>
              <a:cs typeface="Calibri"/>
              <a:sym typeface="Calibri"/>
            </a:endParaRPr>
          </a:p>
        </p:txBody>
      </p:sp>
      <p:sp>
        <p:nvSpPr>
          <p:cNvPr id="155" name="Google Shape;155;p19"/>
          <p:cNvSpPr txBox="1"/>
          <p:nvPr/>
        </p:nvSpPr>
        <p:spPr>
          <a:xfrm>
            <a:off x="193420" y="662947"/>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Three high-impact actions for Olist management</a:t>
            </a:r>
            <a:endParaRPr b="0" i="0" sz="1300" u="none" cap="none" strike="noStrike">
              <a:solidFill>
                <a:schemeClr val="dk1"/>
              </a:solidFill>
              <a:latin typeface="Calibri"/>
              <a:ea typeface="Calibri"/>
              <a:cs typeface="Calibri"/>
              <a:sym typeface="Calibri"/>
            </a:endParaRPr>
          </a:p>
        </p:txBody>
      </p:sp>
      <p:sp>
        <p:nvSpPr>
          <p:cNvPr id="156" name="Google Shape;156;p19"/>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274320" y="1024128"/>
            <a:ext cx="8595360" cy="1143000"/>
          </a:xfrm>
          <a:prstGeom prst="roundRect">
            <a:avLst>
              <a:gd fmla="val 8000" name="adj"/>
            </a:avLst>
          </a:prstGeom>
          <a:solidFill>
            <a:srgbClr val="FFF1F2"/>
          </a:solidFill>
          <a:ln cap="flat" cmpd="sng" w="12700">
            <a:solidFill>
              <a:srgbClr val="FECA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a:off x="411480" y="1161288"/>
            <a:ext cx="530352" cy="530352"/>
          </a:xfrm>
          <a:prstGeom prst="roundRect">
            <a:avLst>
              <a:gd fmla="val 13793" name="adj"/>
            </a:avLst>
          </a:prstGeom>
          <a:solidFill>
            <a:srgbClr val="EF44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txBox="1"/>
          <p:nvPr/>
        </p:nvSpPr>
        <p:spPr>
          <a:xfrm>
            <a:off x="411480" y="11612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01</a:t>
            </a:r>
            <a:endParaRPr b="0" i="0" sz="1400" u="none" cap="none" strike="noStrike">
              <a:solidFill>
                <a:schemeClr val="dk1"/>
              </a:solidFill>
              <a:latin typeface="Calibri"/>
              <a:ea typeface="Calibri"/>
              <a:cs typeface="Calibri"/>
              <a:sym typeface="Calibri"/>
            </a:endParaRPr>
          </a:p>
        </p:txBody>
      </p:sp>
      <p:sp>
        <p:nvSpPr>
          <p:cNvPr id="160" name="Google Shape;160;p19"/>
          <p:cNvSpPr txBox="1"/>
          <p:nvPr/>
        </p:nvSpPr>
        <p:spPr>
          <a:xfrm>
            <a:off x="1051560" y="1152144"/>
            <a:ext cx="457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1" name="Google Shape;161;p19"/>
          <p:cNvSpPr txBox="1"/>
          <p:nvPr/>
        </p:nvSpPr>
        <p:spPr>
          <a:xfrm>
            <a:off x="1554480" y="1143000"/>
            <a:ext cx="7132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1400"/>
              <a:buFont typeface="Calibri"/>
              <a:buNone/>
            </a:pPr>
            <a:r>
              <a:rPr b="1" i="0" lang="en" sz="1400" u="none" cap="none" strike="noStrike">
                <a:solidFill>
                  <a:srgbClr val="EF4444"/>
                </a:solidFill>
                <a:latin typeface="Calibri"/>
                <a:ea typeface="Calibri"/>
                <a:cs typeface="Calibri"/>
                <a:sym typeface="Calibri"/>
              </a:rPr>
              <a:t>Root-Cause Investigation</a:t>
            </a:r>
            <a:endParaRPr b="0" i="0" sz="1400" u="none" cap="none" strike="noStrike">
              <a:solidFill>
                <a:schemeClr val="dk1"/>
              </a:solidFill>
              <a:latin typeface="Calibri"/>
              <a:ea typeface="Calibri"/>
              <a:cs typeface="Calibri"/>
              <a:sym typeface="Calibri"/>
            </a:endParaRPr>
          </a:p>
        </p:txBody>
      </p:sp>
      <p:sp>
        <p:nvSpPr>
          <p:cNvPr id="162" name="Google Shape;162;p19"/>
          <p:cNvSpPr txBox="1"/>
          <p:nvPr/>
        </p:nvSpPr>
        <p:spPr>
          <a:xfrm>
            <a:off x="1554480" y="1536192"/>
            <a:ext cx="71323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Identify specific sellers, regions, and carriers behind the 6.5% late orders. Prioritize audits where delay frequency is highest. Implement seller-level SLAs with penalties for repeated late fulfilment.</a:t>
            </a:r>
            <a:endParaRPr b="0" i="0" sz="1050" u="none" cap="none" strike="noStrike">
              <a:solidFill>
                <a:schemeClr val="dk1"/>
              </a:solidFill>
              <a:latin typeface="Calibri"/>
              <a:ea typeface="Calibri"/>
              <a:cs typeface="Calibri"/>
              <a:sym typeface="Calibri"/>
            </a:endParaRPr>
          </a:p>
        </p:txBody>
      </p:sp>
      <p:sp>
        <p:nvSpPr>
          <p:cNvPr id="163" name="Google Shape;163;p19"/>
          <p:cNvSpPr/>
          <p:nvPr/>
        </p:nvSpPr>
        <p:spPr>
          <a:xfrm>
            <a:off x="274320" y="2286000"/>
            <a:ext cx="8595360" cy="1143000"/>
          </a:xfrm>
          <a:prstGeom prst="roundRect">
            <a:avLst>
              <a:gd fmla="val 8000" name="adj"/>
            </a:avLst>
          </a:prstGeom>
          <a:solidFill>
            <a:srgbClr val="FFFBEB"/>
          </a:solidFill>
          <a:ln cap="flat" cmpd="sng" w="12700">
            <a:solidFill>
              <a:srgbClr val="FDE6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p:nvPr/>
        </p:nvSpPr>
        <p:spPr>
          <a:xfrm>
            <a:off x="411480" y="2423160"/>
            <a:ext cx="530352" cy="530352"/>
          </a:xfrm>
          <a:prstGeom prst="roundRect">
            <a:avLst>
              <a:gd fmla="val 13793" name="adj"/>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txBox="1"/>
          <p:nvPr/>
        </p:nvSpPr>
        <p:spPr>
          <a:xfrm>
            <a:off x="411480" y="2423160"/>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02</a:t>
            </a:r>
            <a:endParaRPr b="0" i="0" sz="1400" u="none" cap="none" strike="noStrike">
              <a:solidFill>
                <a:schemeClr val="dk1"/>
              </a:solidFill>
              <a:latin typeface="Calibri"/>
              <a:ea typeface="Calibri"/>
              <a:cs typeface="Calibri"/>
              <a:sym typeface="Calibri"/>
            </a:endParaRPr>
          </a:p>
        </p:txBody>
      </p:sp>
      <p:sp>
        <p:nvSpPr>
          <p:cNvPr id="166" name="Google Shape;166;p19"/>
          <p:cNvSpPr txBox="1"/>
          <p:nvPr/>
        </p:nvSpPr>
        <p:spPr>
          <a:xfrm>
            <a:off x="1051560" y="2414016"/>
            <a:ext cx="457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67" name="Google Shape;167;p19"/>
          <p:cNvSpPr txBox="1"/>
          <p:nvPr/>
        </p:nvSpPr>
        <p:spPr>
          <a:xfrm>
            <a:off x="1554480" y="2404872"/>
            <a:ext cx="7132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Calibri"/>
              <a:buNone/>
            </a:pPr>
            <a:r>
              <a:rPr b="1" i="0" lang="en" sz="1400" u="none" cap="none" strike="noStrike">
                <a:solidFill>
                  <a:srgbClr val="F59E0B"/>
                </a:solidFill>
                <a:latin typeface="Calibri"/>
                <a:ea typeface="Calibri"/>
                <a:cs typeface="Calibri"/>
                <a:sym typeface="Calibri"/>
              </a:rPr>
              <a:t>Diversify Payment Methods</a:t>
            </a:r>
            <a:endParaRPr b="0" i="0" sz="1400" u="none" cap="none" strike="noStrike">
              <a:solidFill>
                <a:schemeClr val="dk1"/>
              </a:solidFill>
              <a:latin typeface="Calibri"/>
              <a:ea typeface="Calibri"/>
              <a:cs typeface="Calibri"/>
              <a:sym typeface="Calibri"/>
            </a:endParaRPr>
          </a:p>
        </p:txBody>
      </p:sp>
      <p:sp>
        <p:nvSpPr>
          <p:cNvPr id="168" name="Google Shape;168;p19"/>
          <p:cNvSpPr txBox="1"/>
          <p:nvPr/>
        </p:nvSpPr>
        <p:spPr>
          <a:xfrm>
            <a:off x="1554480" y="2798064"/>
            <a:ext cx="71323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Reduce over-reliance on credit cards (73.8%). Offer incentives for boleto, PIX, and debit — lowering processing fees and concentration risk. Partner with fintech providers for buy-now-pay-later options.</a:t>
            </a:r>
            <a:endParaRPr b="0" i="0" sz="1050" u="none" cap="none" strike="noStrike">
              <a:solidFill>
                <a:schemeClr val="dk1"/>
              </a:solidFill>
              <a:latin typeface="Calibri"/>
              <a:ea typeface="Calibri"/>
              <a:cs typeface="Calibri"/>
              <a:sym typeface="Calibri"/>
            </a:endParaRPr>
          </a:p>
        </p:txBody>
      </p:sp>
      <p:sp>
        <p:nvSpPr>
          <p:cNvPr id="169" name="Google Shape;169;p19"/>
          <p:cNvSpPr/>
          <p:nvPr/>
        </p:nvSpPr>
        <p:spPr>
          <a:xfrm>
            <a:off x="274320" y="3547872"/>
            <a:ext cx="8595360" cy="1143000"/>
          </a:xfrm>
          <a:prstGeom prst="roundRect">
            <a:avLst>
              <a:gd fmla="val 8000" name="adj"/>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411480" y="3685032"/>
            <a:ext cx="530352" cy="530352"/>
          </a:xfrm>
          <a:prstGeom prst="roundRect">
            <a:avLst>
              <a:gd fmla="val 13793"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txBox="1"/>
          <p:nvPr/>
        </p:nvSpPr>
        <p:spPr>
          <a:xfrm>
            <a:off x="411480" y="3685032"/>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03</a:t>
            </a:r>
            <a:endParaRPr b="0" i="0" sz="1400" u="none" cap="none" strike="noStrike">
              <a:solidFill>
                <a:schemeClr val="dk1"/>
              </a:solidFill>
              <a:latin typeface="Calibri"/>
              <a:ea typeface="Calibri"/>
              <a:cs typeface="Calibri"/>
              <a:sym typeface="Calibri"/>
            </a:endParaRPr>
          </a:p>
        </p:txBody>
      </p:sp>
      <p:sp>
        <p:nvSpPr>
          <p:cNvPr id="172" name="Google Shape;172;p19"/>
          <p:cNvSpPr txBox="1"/>
          <p:nvPr/>
        </p:nvSpPr>
        <p:spPr>
          <a:xfrm>
            <a:off x="1051560" y="3675888"/>
            <a:ext cx="457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400"/>
              <a:buFont typeface="Calibri"/>
              <a:buNone/>
            </a:pPr>
            <a:r>
              <a:rPr b="0" i="0" lang="en"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73" name="Google Shape;173;p19"/>
          <p:cNvSpPr txBox="1"/>
          <p:nvPr/>
        </p:nvSpPr>
        <p:spPr>
          <a:xfrm>
            <a:off x="1554480" y="3666744"/>
            <a:ext cx="7132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400"/>
              <a:buFont typeface="Calibri"/>
              <a:buNone/>
            </a:pPr>
            <a:r>
              <a:rPr b="1" i="0" lang="en" sz="1400" u="none" cap="none" strike="noStrike">
                <a:solidFill>
                  <a:srgbClr val="10B981"/>
                </a:solidFill>
                <a:latin typeface="Calibri"/>
                <a:ea typeface="Calibri"/>
                <a:cs typeface="Calibri"/>
                <a:sym typeface="Calibri"/>
              </a:rPr>
              <a:t>Category-Focused Marketing</a:t>
            </a:r>
            <a:endParaRPr b="0" i="0" sz="1400" u="none" cap="none" strike="noStrike">
              <a:solidFill>
                <a:schemeClr val="dk1"/>
              </a:solidFill>
              <a:latin typeface="Calibri"/>
              <a:ea typeface="Calibri"/>
              <a:cs typeface="Calibri"/>
              <a:sym typeface="Calibri"/>
            </a:endParaRPr>
          </a:p>
        </p:txBody>
      </p:sp>
      <p:sp>
        <p:nvSpPr>
          <p:cNvPr id="174" name="Google Shape;174;p19"/>
          <p:cNvSpPr txBox="1"/>
          <p:nvPr/>
        </p:nvSpPr>
        <p:spPr>
          <a:xfrm>
            <a:off x="1554480" y="4059936"/>
            <a:ext cx="713232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93B"/>
              </a:buClr>
              <a:buSzPts val="1050"/>
              <a:buFont typeface="Calibri"/>
              <a:buNone/>
            </a:pPr>
            <a:r>
              <a:rPr b="0" i="0" lang="en" sz="1050" u="none" cap="none" strike="noStrike">
                <a:solidFill>
                  <a:srgbClr val="1E293B"/>
                </a:solidFill>
                <a:latin typeface="Calibri"/>
                <a:ea typeface="Calibri"/>
                <a:cs typeface="Calibri"/>
                <a:sym typeface="Calibri"/>
              </a:rPr>
              <a:t>Increase seller acquisition and marketing spend on high-value categories: PCs, electronics, and appliances. Higher average order value lifts revenue per shipment without needing more volume.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20"/>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Expected Business Impact</a:t>
            </a:r>
            <a:endParaRPr b="0" i="0" sz="2400" u="none" cap="none" strike="noStrike">
              <a:solidFill>
                <a:schemeClr val="dk1"/>
              </a:solidFill>
              <a:latin typeface="Calibri"/>
              <a:ea typeface="Calibri"/>
              <a:cs typeface="Calibri"/>
              <a:sym typeface="Calibri"/>
            </a:endParaRPr>
          </a:p>
        </p:txBody>
      </p:sp>
      <p:sp>
        <p:nvSpPr>
          <p:cNvPr id="182" name="Google Shape;182;p20"/>
          <p:cNvSpPr txBox="1"/>
          <p:nvPr/>
        </p:nvSpPr>
        <p:spPr>
          <a:xfrm>
            <a:off x="274320" y="690372"/>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Projected outcomes and success metrics</a:t>
            </a:r>
            <a:endParaRPr b="0" i="0" sz="1300" u="none" cap="none" strike="noStrike">
              <a:solidFill>
                <a:schemeClr val="dk1"/>
              </a:solidFill>
              <a:latin typeface="Calibri"/>
              <a:ea typeface="Calibri"/>
              <a:cs typeface="Calibri"/>
              <a:sym typeface="Calibri"/>
            </a:endParaRPr>
          </a:p>
        </p:txBody>
      </p:sp>
      <p:sp>
        <p:nvSpPr>
          <p:cNvPr id="183" name="Google Shape;183;p20"/>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274320" y="1024128"/>
            <a:ext cx="2743200" cy="2468880"/>
          </a:xfrm>
          <a:prstGeom prst="roundRect">
            <a:avLst>
              <a:gd fmla="val 4444" name="adj"/>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txBox="1"/>
          <p:nvPr/>
        </p:nvSpPr>
        <p:spPr>
          <a:xfrm>
            <a:off x="365760" y="1115568"/>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Calibri"/>
              <a:buNone/>
            </a:pPr>
            <a:r>
              <a:rPr b="0" i="0" lang="en" sz="3400" u="none" cap="none" strike="noStrike">
                <a:solidFill>
                  <a:srgbClr val="000000"/>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186" name="Google Shape;186;p20"/>
          <p:cNvSpPr txBox="1"/>
          <p:nvPr/>
        </p:nvSpPr>
        <p:spPr>
          <a:xfrm>
            <a:off x="365760" y="1792224"/>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563EB"/>
              </a:buClr>
              <a:buSzPts val="1250"/>
              <a:buFont typeface="Calibri"/>
              <a:buNone/>
            </a:pPr>
            <a:r>
              <a:rPr b="1" i="0" lang="en" sz="1250" u="none" cap="none" strike="noStrike">
                <a:solidFill>
                  <a:srgbClr val="2563EB"/>
                </a:solidFill>
                <a:latin typeface="Calibri"/>
                <a:ea typeface="Calibri"/>
                <a:cs typeface="Calibri"/>
                <a:sym typeface="Calibri"/>
              </a:rPr>
              <a:t>Customer Satisfaction</a:t>
            </a:r>
            <a:endParaRPr b="0" i="0" sz="1250" u="none" cap="none" strike="noStrike">
              <a:solidFill>
                <a:schemeClr val="dk1"/>
              </a:solidFill>
              <a:latin typeface="Calibri"/>
              <a:ea typeface="Calibri"/>
              <a:cs typeface="Calibri"/>
              <a:sym typeface="Calibri"/>
            </a:endParaRPr>
          </a:p>
        </p:txBody>
      </p:sp>
      <p:sp>
        <p:nvSpPr>
          <p:cNvPr id="187" name="Google Shape;187;p20"/>
          <p:cNvSpPr txBox="1"/>
          <p:nvPr/>
        </p:nvSpPr>
        <p:spPr>
          <a:xfrm>
            <a:off x="411480" y="2249424"/>
            <a:ext cx="2468880" cy="1143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Fixing the late-delivery segment can lift average review scores platform-wide and reduce customer churn driven by negative delivery experiences.</a:t>
            </a:r>
            <a:endParaRPr b="0" i="0" sz="1000" u="none" cap="none" strike="noStrike">
              <a:solidFill>
                <a:schemeClr val="dk1"/>
              </a:solidFill>
              <a:latin typeface="Calibri"/>
              <a:ea typeface="Calibri"/>
              <a:cs typeface="Calibri"/>
              <a:sym typeface="Calibri"/>
            </a:endParaRPr>
          </a:p>
        </p:txBody>
      </p:sp>
      <p:sp>
        <p:nvSpPr>
          <p:cNvPr id="188" name="Google Shape;188;p20"/>
          <p:cNvSpPr/>
          <p:nvPr/>
        </p:nvSpPr>
        <p:spPr>
          <a:xfrm>
            <a:off x="3200400" y="1024128"/>
            <a:ext cx="2743200" cy="2468880"/>
          </a:xfrm>
          <a:prstGeom prst="roundRect">
            <a:avLst>
              <a:gd fmla="val 4444" name="adj"/>
            </a:avLst>
          </a:prstGeom>
          <a:solidFill>
            <a:srgbClr val="F0F9FF"/>
          </a:solidFill>
          <a:ln cap="flat" cmpd="sng" w="12700">
            <a:solidFill>
              <a:srgbClr val="BAE6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txBox="1"/>
          <p:nvPr/>
        </p:nvSpPr>
        <p:spPr>
          <a:xfrm>
            <a:off x="3291840" y="1115568"/>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Calibri"/>
              <a:buNone/>
            </a:pPr>
            <a:r>
              <a:rPr b="0" i="0" lang="en" sz="3400" u="none" cap="none" strike="noStrike">
                <a:solidFill>
                  <a:srgbClr val="000000"/>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190" name="Google Shape;190;p20"/>
          <p:cNvSpPr txBox="1"/>
          <p:nvPr/>
        </p:nvSpPr>
        <p:spPr>
          <a:xfrm>
            <a:off x="3291840" y="1792224"/>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EA5E9"/>
              </a:buClr>
              <a:buSzPts val="1250"/>
              <a:buFont typeface="Calibri"/>
              <a:buNone/>
            </a:pPr>
            <a:r>
              <a:rPr b="1" i="0" lang="en" sz="1250" u="none" cap="none" strike="noStrike">
                <a:solidFill>
                  <a:srgbClr val="0EA5E9"/>
                </a:solidFill>
                <a:latin typeface="Calibri"/>
                <a:ea typeface="Calibri"/>
                <a:cs typeface="Calibri"/>
                <a:sym typeface="Calibri"/>
              </a:rPr>
              <a:t>Payment Resilience</a:t>
            </a:r>
            <a:endParaRPr b="0" i="0" sz="1250" u="none" cap="none" strike="noStrike">
              <a:solidFill>
                <a:schemeClr val="dk1"/>
              </a:solidFill>
              <a:latin typeface="Calibri"/>
              <a:ea typeface="Calibri"/>
              <a:cs typeface="Calibri"/>
              <a:sym typeface="Calibri"/>
            </a:endParaRPr>
          </a:p>
        </p:txBody>
      </p:sp>
      <p:sp>
        <p:nvSpPr>
          <p:cNvPr id="191" name="Google Shape;191;p20"/>
          <p:cNvSpPr txBox="1"/>
          <p:nvPr/>
        </p:nvSpPr>
        <p:spPr>
          <a:xfrm>
            <a:off x="3337560" y="2249424"/>
            <a:ext cx="2468880" cy="1143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Diversifying payment options reduces processing-fee exposure and platform risk from over-concentration in a single payment method.</a:t>
            </a:r>
            <a:endParaRPr b="0" i="0" sz="1000" u="none" cap="none" strike="noStrike">
              <a:solidFill>
                <a:schemeClr val="dk1"/>
              </a:solidFill>
              <a:latin typeface="Calibri"/>
              <a:ea typeface="Calibri"/>
              <a:cs typeface="Calibri"/>
              <a:sym typeface="Calibri"/>
            </a:endParaRPr>
          </a:p>
        </p:txBody>
      </p:sp>
      <p:sp>
        <p:nvSpPr>
          <p:cNvPr id="192" name="Google Shape;192;p20"/>
          <p:cNvSpPr/>
          <p:nvPr/>
        </p:nvSpPr>
        <p:spPr>
          <a:xfrm>
            <a:off x="6126480" y="1024128"/>
            <a:ext cx="2743200" cy="2468880"/>
          </a:xfrm>
          <a:prstGeom prst="roundRect">
            <a:avLst>
              <a:gd fmla="val 4444" name="adj"/>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0"/>
          <p:cNvSpPr txBox="1"/>
          <p:nvPr/>
        </p:nvSpPr>
        <p:spPr>
          <a:xfrm>
            <a:off x="6217920" y="1115568"/>
            <a:ext cx="25603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Calibri"/>
              <a:buNone/>
            </a:pPr>
            <a:r>
              <a:rPr b="0" i="0" lang="en" sz="3400" u="none" cap="none" strike="noStrike">
                <a:solidFill>
                  <a:srgbClr val="000000"/>
                </a:solidFill>
                <a:latin typeface="Calibri"/>
                <a:ea typeface="Calibri"/>
                <a:cs typeface="Calibri"/>
                <a:sym typeface="Calibri"/>
              </a:rPr>
              <a:t>💰</a:t>
            </a:r>
            <a:endParaRPr b="0" i="0" sz="3400" u="none" cap="none" strike="noStrike">
              <a:solidFill>
                <a:schemeClr val="dk1"/>
              </a:solidFill>
              <a:latin typeface="Calibri"/>
              <a:ea typeface="Calibri"/>
              <a:cs typeface="Calibri"/>
              <a:sym typeface="Calibri"/>
            </a:endParaRPr>
          </a:p>
        </p:txBody>
      </p:sp>
      <p:sp>
        <p:nvSpPr>
          <p:cNvPr id="194" name="Google Shape;194;p20"/>
          <p:cNvSpPr txBox="1"/>
          <p:nvPr/>
        </p:nvSpPr>
        <p:spPr>
          <a:xfrm>
            <a:off x="6217920" y="1792224"/>
            <a:ext cx="25603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250"/>
              <a:buFont typeface="Calibri"/>
              <a:buNone/>
            </a:pPr>
            <a:r>
              <a:rPr b="1" i="0" lang="en" sz="1250" u="none" cap="none" strike="noStrike">
                <a:solidFill>
                  <a:srgbClr val="10B981"/>
                </a:solidFill>
                <a:latin typeface="Calibri"/>
                <a:ea typeface="Calibri"/>
                <a:cs typeface="Calibri"/>
                <a:sym typeface="Calibri"/>
              </a:rPr>
              <a:t>Revenue per Order</a:t>
            </a:r>
            <a:endParaRPr b="0" i="0" sz="1250" u="none" cap="none" strike="noStrike">
              <a:solidFill>
                <a:schemeClr val="dk1"/>
              </a:solidFill>
              <a:latin typeface="Calibri"/>
              <a:ea typeface="Calibri"/>
              <a:cs typeface="Calibri"/>
              <a:sym typeface="Calibri"/>
            </a:endParaRPr>
          </a:p>
        </p:txBody>
      </p:sp>
      <p:sp>
        <p:nvSpPr>
          <p:cNvPr id="195" name="Google Shape;195;p20"/>
          <p:cNvSpPr txBox="1"/>
          <p:nvPr/>
        </p:nvSpPr>
        <p:spPr>
          <a:xfrm>
            <a:off x="6263640" y="2249424"/>
            <a:ext cx="2468880" cy="11430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Category-focused marketing on high-value items increases average order value — growing revenue without requiring additional order volume.</a:t>
            </a:r>
            <a:endParaRPr b="0" i="0" sz="1000" u="none" cap="none" strike="noStrike">
              <a:solidFill>
                <a:schemeClr val="dk1"/>
              </a:solidFill>
              <a:latin typeface="Calibri"/>
              <a:ea typeface="Calibri"/>
              <a:cs typeface="Calibri"/>
              <a:sym typeface="Calibri"/>
            </a:endParaRPr>
          </a:p>
        </p:txBody>
      </p:sp>
      <p:sp>
        <p:nvSpPr>
          <p:cNvPr id="196" name="Google Shape;196;p20"/>
          <p:cNvSpPr txBox="1"/>
          <p:nvPr/>
        </p:nvSpPr>
        <p:spPr>
          <a:xfrm>
            <a:off x="274320" y="3639312"/>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300"/>
              <a:buFont typeface="Calibri"/>
              <a:buNone/>
            </a:pPr>
            <a:r>
              <a:rPr b="1" i="0" lang="en" sz="1300" u="none" cap="none" strike="noStrike">
                <a:solidFill>
                  <a:srgbClr val="0F1F3D"/>
                </a:solidFill>
                <a:latin typeface="Calibri"/>
                <a:ea typeface="Calibri"/>
                <a:cs typeface="Calibri"/>
                <a:sym typeface="Calibri"/>
              </a:rPr>
              <a:t>📏  Success Metrics</a:t>
            </a:r>
            <a:endParaRPr b="0" i="0" sz="1300" u="none" cap="none" strike="noStrike">
              <a:solidFill>
                <a:schemeClr val="dk1"/>
              </a:solidFill>
              <a:latin typeface="Calibri"/>
              <a:ea typeface="Calibri"/>
              <a:cs typeface="Calibri"/>
              <a:sym typeface="Calibri"/>
            </a:endParaRPr>
          </a:p>
        </p:txBody>
      </p:sp>
      <p:sp>
        <p:nvSpPr>
          <p:cNvPr id="197" name="Google Shape;197;p20"/>
          <p:cNvSpPr/>
          <p:nvPr/>
        </p:nvSpPr>
        <p:spPr>
          <a:xfrm>
            <a:off x="274320" y="4069080"/>
            <a:ext cx="4023360" cy="347472"/>
          </a:xfrm>
          <a:prstGeom prst="roundRect">
            <a:avLst>
              <a:gd fmla="val 15789"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
          <p:cNvSpPr txBox="1"/>
          <p:nvPr/>
        </p:nvSpPr>
        <p:spPr>
          <a:xfrm>
            <a:off x="411480" y="411480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 sz="1100" u="none" cap="none" strike="noStrike">
                <a:solidFill>
                  <a:srgbClr val="1E293B"/>
                </a:solidFill>
                <a:latin typeface="Calibri"/>
                <a:ea typeface="Calibri"/>
                <a:cs typeface="Calibri"/>
                <a:sym typeface="Calibri"/>
              </a:rPr>
              <a:t>✓  Late delivery %</a:t>
            </a:r>
            <a:endParaRPr b="0" i="0" sz="1100" u="none" cap="none" strike="noStrike">
              <a:solidFill>
                <a:schemeClr val="dk1"/>
              </a:solidFill>
              <a:latin typeface="Calibri"/>
              <a:ea typeface="Calibri"/>
              <a:cs typeface="Calibri"/>
              <a:sym typeface="Calibri"/>
            </a:endParaRPr>
          </a:p>
        </p:txBody>
      </p:sp>
      <p:sp>
        <p:nvSpPr>
          <p:cNvPr id="199" name="Google Shape;199;p20"/>
          <p:cNvSpPr/>
          <p:nvPr/>
        </p:nvSpPr>
        <p:spPr>
          <a:xfrm>
            <a:off x="4617720" y="4069080"/>
            <a:ext cx="4023360" cy="347472"/>
          </a:xfrm>
          <a:prstGeom prst="roundRect">
            <a:avLst>
              <a:gd fmla="val 15789"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txBox="1"/>
          <p:nvPr/>
        </p:nvSpPr>
        <p:spPr>
          <a:xfrm>
            <a:off x="4754880" y="411480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 sz="1100" u="none" cap="none" strike="noStrike">
                <a:solidFill>
                  <a:srgbClr val="1E293B"/>
                </a:solidFill>
                <a:latin typeface="Calibri"/>
                <a:ea typeface="Calibri"/>
                <a:cs typeface="Calibri"/>
                <a:sym typeface="Calibri"/>
              </a:rPr>
              <a:t>✓  Review score trend</a:t>
            </a:r>
            <a:endParaRPr b="0" i="0" sz="1100" u="none" cap="none" strike="noStrike">
              <a:solidFill>
                <a:schemeClr val="dk1"/>
              </a:solidFill>
              <a:latin typeface="Calibri"/>
              <a:ea typeface="Calibri"/>
              <a:cs typeface="Calibri"/>
              <a:sym typeface="Calibri"/>
            </a:endParaRPr>
          </a:p>
        </p:txBody>
      </p:sp>
      <p:sp>
        <p:nvSpPr>
          <p:cNvPr id="201" name="Google Shape;201;p20"/>
          <p:cNvSpPr/>
          <p:nvPr/>
        </p:nvSpPr>
        <p:spPr>
          <a:xfrm>
            <a:off x="274320" y="4480560"/>
            <a:ext cx="4023360" cy="347472"/>
          </a:xfrm>
          <a:prstGeom prst="roundRect">
            <a:avLst>
              <a:gd fmla="val 15789"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txBox="1"/>
          <p:nvPr/>
        </p:nvSpPr>
        <p:spPr>
          <a:xfrm>
            <a:off x="411480" y="452628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 sz="1100" u="none" cap="none" strike="noStrike">
                <a:solidFill>
                  <a:srgbClr val="1E293B"/>
                </a:solidFill>
                <a:latin typeface="Calibri"/>
                <a:ea typeface="Calibri"/>
                <a:cs typeface="Calibri"/>
                <a:sym typeface="Calibri"/>
              </a:rPr>
              <a:t>✓  Payment method mix</a:t>
            </a:r>
            <a:endParaRPr b="0" i="0" sz="1100" u="none" cap="none" strike="noStrike">
              <a:solidFill>
                <a:schemeClr val="dk1"/>
              </a:solidFill>
              <a:latin typeface="Calibri"/>
              <a:ea typeface="Calibri"/>
              <a:cs typeface="Calibri"/>
              <a:sym typeface="Calibri"/>
            </a:endParaRPr>
          </a:p>
        </p:txBody>
      </p:sp>
      <p:sp>
        <p:nvSpPr>
          <p:cNvPr id="203" name="Google Shape;203;p20"/>
          <p:cNvSpPr/>
          <p:nvPr/>
        </p:nvSpPr>
        <p:spPr>
          <a:xfrm>
            <a:off x="4617720" y="4480560"/>
            <a:ext cx="4023360" cy="347472"/>
          </a:xfrm>
          <a:prstGeom prst="roundRect">
            <a:avLst>
              <a:gd fmla="val 15789" name="adj"/>
            </a:avLst>
          </a:prstGeom>
          <a:solidFill>
            <a:srgbClr val="FFFFFF"/>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0"/>
          <p:cNvSpPr txBox="1"/>
          <p:nvPr/>
        </p:nvSpPr>
        <p:spPr>
          <a:xfrm>
            <a:off x="4754880" y="4526280"/>
            <a:ext cx="3749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 sz="1100" u="none" cap="none" strike="noStrike">
                <a:solidFill>
                  <a:srgbClr val="1E293B"/>
                </a:solidFill>
                <a:latin typeface="Calibri"/>
                <a:ea typeface="Calibri"/>
                <a:cs typeface="Calibri"/>
                <a:sym typeface="Calibri"/>
              </a:rPr>
              <a:t>✓  Avg order value by category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1"/>
          <p:cNvSpPr/>
          <p:nvPr/>
        </p:nvSpPr>
        <p:spPr>
          <a:xfrm>
            <a:off x="0" y="0"/>
            <a:ext cx="64008" cy="5143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1"/>
          <p:cNvSpPr txBox="1"/>
          <p:nvPr/>
        </p:nvSpPr>
        <p:spPr>
          <a:xfrm>
            <a:off x="274320" y="256032"/>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2400"/>
              <a:buFont typeface="Calibri"/>
              <a:buNone/>
            </a:pPr>
            <a:r>
              <a:rPr b="1" i="0" lang="en" sz="2400" u="none" cap="none" strike="noStrike">
                <a:solidFill>
                  <a:srgbClr val="0F1F3D"/>
                </a:solidFill>
                <a:latin typeface="Calibri"/>
                <a:ea typeface="Calibri"/>
                <a:cs typeface="Calibri"/>
                <a:sym typeface="Calibri"/>
              </a:rPr>
              <a:t>Limitations &amp; Next Steps</a:t>
            </a:r>
            <a:endParaRPr b="0" i="0" sz="2400" u="none" cap="none" strike="noStrike">
              <a:solidFill>
                <a:schemeClr val="dk1"/>
              </a:solidFill>
              <a:latin typeface="Calibri"/>
              <a:ea typeface="Calibri"/>
              <a:cs typeface="Calibri"/>
              <a:sym typeface="Calibri"/>
            </a:endParaRPr>
          </a:p>
        </p:txBody>
      </p:sp>
      <p:sp>
        <p:nvSpPr>
          <p:cNvPr id="212" name="Google Shape;212;p21"/>
          <p:cNvSpPr txBox="1"/>
          <p:nvPr/>
        </p:nvSpPr>
        <p:spPr>
          <a:xfrm>
            <a:off x="274345" y="690297"/>
            <a:ext cx="85953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300"/>
              <a:buFont typeface="Calibri"/>
              <a:buNone/>
            </a:pPr>
            <a:r>
              <a:rPr b="0" i="1" lang="en" sz="1300" u="none" cap="none" strike="noStrike">
                <a:solidFill>
                  <a:srgbClr val="94A3B8"/>
                </a:solidFill>
                <a:latin typeface="Calibri"/>
                <a:ea typeface="Calibri"/>
                <a:cs typeface="Calibri"/>
                <a:sym typeface="Calibri"/>
              </a:rPr>
              <a:t>Honest </a:t>
            </a:r>
            <a:r>
              <a:rPr b="0" i="1" lang="en" sz="1300" u="none" cap="none" strike="noStrike">
                <a:solidFill>
                  <a:srgbClr val="94A3B8"/>
                </a:solidFill>
                <a:latin typeface="Calibri"/>
                <a:ea typeface="Calibri"/>
                <a:cs typeface="Calibri"/>
                <a:sym typeface="Calibri"/>
              </a:rPr>
              <a:t>boundaries </a:t>
            </a:r>
            <a:r>
              <a:rPr b="0" i="1" lang="en" sz="1300" u="none" cap="none" strike="noStrike">
                <a:solidFill>
                  <a:srgbClr val="94A3B8"/>
                </a:solidFill>
                <a:latin typeface="Calibri"/>
                <a:ea typeface="Calibri"/>
                <a:cs typeface="Calibri"/>
                <a:sym typeface="Calibri"/>
              </a:rPr>
              <a:t>and the path forward</a:t>
            </a:r>
            <a:endParaRPr b="0" i="0" sz="1300" u="none" cap="none" strike="noStrike">
              <a:solidFill>
                <a:schemeClr val="dk1"/>
              </a:solidFill>
              <a:latin typeface="Calibri"/>
              <a:ea typeface="Calibri"/>
              <a:cs typeface="Calibri"/>
              <a:sym typeface="Calibri"/>
            </a:endParaRPr>
          </a:p>
        </p:txBody>
      </p:sp>
      <p:sp>
        <p:nvSpPr>
          <p:cNvPr id="213" name="Google Shape;213;p21"/>
          <p:cNvSpPr/>
          <p:nvPr/>
        </p:nvSpPr>
        <p:spPr>
          <a:xfrm>
            <a:off x="274320" y="1051560"/>
            <a:ext cx="8595360" cy="22860"/>
          </a:xfrm>
          <a:prstGeom prst="rect">
            <a:avLst/>
          </a:prstGeom>
          <a:solidFill>
            <a:srgbClr val="E2E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p:nvPr/>
        </p:nvSpPr>
        <p:spPr>
          <a:xfrm>
            <a:off x="274320" y="1024128"/>
            <a:ext cx="4160520" cy="3291840"/>
          </a:xfrm>
          <a:prstGeom prst="roundRect">
            <a:avLst>
              <a:gd fmla="val 3333" name="adj"/>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nvSpPr>
        <p:spPr>
          <a:xfrm>
            <a:off x="457200" y="1115568"/>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400"/>
              <a:buFont typeface="Calibri"/>
              <a:buNone/>
            </a:pPr>
            <a:r>
              <a:rPr b="1" i="0" lang="en" sz="1400" u="none" cap="none" strike="noStrike">
                <a:solidFill>
                  <a:srgbClr val="F59E0B"/>
                </a:solidFill>
                <a:latin typeface="Calibri"/>
                <a:ea typeface="Calibri"/>
                <a:cs typeface="Calibri"/>
                <a:sym typeface="Calibri"/>
              </a:rPr>
              <a:t>⚠️  Limitations</a:t>
            </a:r>
            <a:endParaRPr b="0" i="0" sz="1400" u="none" cap="none" strike="noStrike">
              <a:solidFill>
                <a:schemeClr val="dk1"/>
              </a:solidFill>
              <a:latin typeface="Calibri"/>
              <a:ea typeface="Calibri"/>
              <a:cs typeface="Calibri"/>
              <a:sym typeface="Calibri"/>
            </a:endParaRPr>
          </a:p>
        </p:txBody>
      </p:sp>
      <p:sp>
        <p:nvSpPr>
          <p:cNvPr id="216" name="Google Shape;216;p21"/>
          <p:cNvSpPr txBox="1"/>
          <p:nvPr/>
        </p:nvSpPr>
        <p:spPr>
          <a:xfrm>
            <a:off x="502920" y="1664208"/>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alibri"/>
              <a:buNone/>
            </a:pPr>
            <a:r>
              <a:rPr b="1" i="0" lang="en" sz="1150" u="none" cap="none" strike="noStrike">
                <a:solidFill>
                  <a:srgbClr val="F59E0B"/>
                </a:solidFill>
                <a:latin typeface="Calibri"/>
                <a:ea typeface="Calibri"/>
                <a:cs typeface="Calibri"/>
                <a:sym typeface="Calibri"/>
              </a:rPr>
              <a:t>Correlation ≠ Causation</a:t>
            </a:r>
            <a:endParaRPr b="0" i="0" sz="1150" u="none" cap="none" strike="noStrike">
              <a:solidFill>
                <a:schemeClr val="dk1"/>
              </a:solidFill>
              <a:latin typeface="Calibri"/>
              <a:ea typeface="Calibri"/>
              <a:cs typeface="Calibri"/>
              <a:sym typeface="Calibri"/>
            </a:endParaRPr>
          </a:p>
        </p:txBody>
      </p:sp>
      <p:sp>
        <p:nvSpPr>
          <p:cNvPr id="217" name="Google Shape;217;p21"/>
          <p:cNvSpPr txBox="1"/>
          <p:nvPr/>
        </p:nvSpPr>
        <p:spPr>
          <a:xfrm>
            <a:off x="502920" y="201168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We cannot confirm late delivery directly causes lower reviews — confounders may exist.</a:t>
            </a:r>
            <a:endParaRPr b="0" i="0" sz="1000" u="none" cap="none" strike="noStrike">
              <a:solidFill>
                <a:schemeClr val="dk1"/>
              </a:solidFill>
              <a:latin typeface="Calibri"/>
              <a:ea typeface="Calibri"/>
              <a:cs typeface="Calibri"/>
              <a:sym typeface="Calibri"/>
            </a:endParaRPr>
          </a:p>
        </p:txBody>
      </p:sp>
      <p:sp>
        <p:nvSpPr>
          <p:cNvPr id="218" name="Google Shape;218;p21"/>
          <p:cNvSpPr txBox="1"/>
          <p:nvPr/>
        </p:nvSpPr>
        <p:spPr>
          <a:xfrm>
            <a:off x="502920" y="2487168"/>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alibri"/>
              <a:buNone/>
            </a:pPr>
            <a:r>
              <a:rPr b="1" i="0" lang="en" sz="1150" u="none" cap="none" strike="noStrike">
                <a:solidFill>
                  <a:srgbClr val="F59E0B"/>
                </a:solidFill>
                <a:latin typeface="Calibri"/>
                <a:ea typeface="Calibri"/>
                <a:cs typeface="Calibri"/>
                <a:sym typeface="Calibri"/>
              </a:rPr>
              <a:t>Geographic Scope</a:t>
            </a:r>
            <a:endParaRPr b="0" i="0" sz="1150" u="none" cap="none" strike="noStrike">
              <a:solidFill>
                <a:schemeClr val="dk1"/>
              </a:solidFill>
              <a:latin typeface="Calibri"/>
              <a:ea typeface="Calibri"/>
              <a:cs typeface="Calibri"/>
              <a:sym typeface="Calibri"/>
            </a:endParaRPr>
          </a:p>
        </p:txBody>
      </p:sp>
      <p:sp>
        <p:nvSpPr>
          <p:cNvPr id="219" name="Google Shape;219;p21"/>
          <p:cNvSpPr txBox="1"/>
          <p:nvPr/>
        </p:nvSpPr>
        <p:spPr>
          <a:xfrm>
            <a:off x="502920" y="283464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Data is limited to Brazil 2016–2018; results may not generalize to other markets or periods.</a:t>
            </a:r>
            <a:endParaRPr b="0" i="0" sz="1000" u="none" cap="none" strike="noStrike">
              <a:solidFill>
                <a:schemeClr val="dk1"/>
              </a:solidFill>
              <a:latin typeface="Calibri"/>
              <a:ea typeface="Calibri"/>
              <a:cs typeface="Calibri"/>
              <a:sym typeface="Calibri"/>
            </a:endParaRPr>
          </a:p>
        </p:txBody>
      </p:sp>
      <p:sp>
        <p:nvSpPr>
          <p:cNvPr id="220" name="Google Shape;220;p21"/>
          <p:cNvSpPr txBox="1"/>
          <p:nvPr/>
        </p:nvSpPr>
        <p:spPr>
          <a:xfrm>
            <a:off x="502920" y="3310128"/>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1150"/>
              <a:buFont typeface="Calibri"/>
              <a:buNone/>
            </a:pPr>
            <a:r>
              <a:rPr b="1" i="0" lang="en" sz="1150" u="none" cap="none" strike="noStrike">
                <a:solidFill>
                  <a:srgbClr val="F59E0B"/>
                </a:solidFill>
                <a:latin typeface="Calibri"/>
                <a:ea typeface="Calibri"/>
                <a:cs typeface="Calibri"/>
                <a:sym typeface="Calibri"/>
              </a:rPr>
              <a:t>Self-Reported Reviews</a:t>
            </a:r>
            <a:endParaRPr b="0" i="0" sz="1150" u="none" cap="none" strike="noStrike">
              <a:solidFill>
                <a:schemeClr val="dk1"/>
              </a:solidFill>
              <a:latin typeface="Calibri"/>
              <a:ea typeface="Calibri"/>
              <a:cs typeface="Calibri"/>
              <a:sym typeface="Calibri"/>
            </a:endParaRPr>
          </a:p>
        </p:txBody>
      </p:sp>
      <p:sp>
        <p:nvSpPr>
          <p:cNvPr id="221" name="Google Shape;221;p21"/>
          <p:cNvSpPr txBox="1"/>
          <p:nvPr/>
        </p:nvSpPr>
        <p:spPr>
          <a:xfrm>
            <a:off x="502920" y="365760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Customer reviews are subjective and may reflect factors beyond delivery alone.</a:t>
            </a:r>
            <a:endParaRPr b="0" i="0" sz="1000" u="none" cap="none" strike="noStrike">
              <a:solidFill>
                <a:schemeClr val="dk1"/>
              </a:solidFill>
              <a:latin typeface="Calibri"/>
              <a:ea typeface="Calibri"/>
              <a:cs typeface="Calibri"/>
              <a:sym typeface="Calibri"/>
            </a:endParaRPr>
          </a:p>
        </p:txBody>
      </p:sp>
      <p:sp>
        <p:nvSpPr>
          <p:cNvPr id="222" name="Google Shape;222;p21"/>
          <p:cNvSpPr/>
          <p:nvPr/>
        </p:nvSpPr>
        <p:spPr>
          <a:xfrm>
            <a:off x="4709160" y="1024128"/>
            <a:ext cx="4160520" cy="3291840"/>
          </a:xfrm>
          <a:prstGeom prst="roundRect">
            <a:avLst>
              <a:gd fmla="val 3333" name="adj"/>
            </a:avLst>
          </a:prstGeom>
          <a:solidFill>
            <a:srgbClr val="F0FDF4"/>
          </a:solidFill>
          <a:ln cap="flat" cmpd="sng" w="12700">
            <a:solidFill>
              <a:srgbClr val="BBF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1"/>
          <p:cNvSpPr txBox="1"/>
          <p:nvPr/>
        </p:nvSpPr>
        <p:spPr>
          <a:xfrm>
            <a:off x="4892040" y="1115568"/>
            <a:ext cx="3840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400"/>
              <a:buFont typeface="Calibri"/>
              <a:buNone/>
            </a:pPr>
            <a:r>
              <a:rPr b="1" i="0" lang="en" sz="1400" u="none" cap="none" strike="noStrike">
                <a:solidFill>
                  <a:srgbClr val="10B981"/>
                </a:solidFill>
                <a:latin typeface="Calibri"/>
                <a:ea typeface="Calibri"/>
                <a:cs typeface="Calibri"/>
                <a:sym typeface="Calibri"/>
              </a:rPr>
              <a:t>🚀  Next Steps</a:t>
            </a:r>
            <a:endParaRPr b="0" i="0" sz="1400" u="none" cap="none" strike="noStrike">
              <a:solidFill>
                <a:schemeClr val="dk1"/>
              </a:solidFill>
              <a:latin typeface="Calibri"/>
              <a:ea typeface="Calibri"/>
              <a:cs typeface="Calibri"/>
              <a:sym typeface="Calibri"/>
            </a:endParaRPr>
          </a:p>
        </p:txBody>
      </p:sp>
      <p:sp>
        <p:nvSpPr>
          <p:cNvPr id="224" name="Google Shape;224;p21"/>
          <p:cNvSpPr/>
          <p:nvPr/>
        </p:nvSpPr>
        <p:spPr>
          <a:xfrm>
            <a:off x="4846320" y="1572768"/>
            <a:ext cx="347472" cy="347472"/>
          </a:xfrm>
          <a:prstGeom prst="roundRect">
            <a:avLst>
              <a:gd fmla="val 13158"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
          <p:cNvSpPr txBox="1"/>
          <p:nvPr/>
        </p:nvSpPr>
        <p:spPr>
          <a:xfrm>
            <a:off x="4846320" y="15727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26" name="Google Shape;226;p21"/>
          <p:cNvSpPr txBox="1"/>
          <p:nvPr/>
        </p:nvSpPr>
        <p:spPr>
          <a:xfrm>
            <a:off x="5321808" y="157276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50"/>
              <a:buFont typeface="Calibri"/>
              <a:buNone/>
            </a:pPr>
            <a:r>
              <a:rPr b="1" i="0" lang="en" sz="1150" u="none" cap="none" strike="noStrike">
                <a:solidFill>
                  <a:srgbClr val="10B981"/>
                </a:solidFill>
                <a:latin typeface="Calibri"/>
                <a:ea typeface="Calibri"/>
                <a:cs typeface="Calibri"/>
                <a:sym typeface="Calibri"/>
              </a:rPr>
              <a:t>Controlled Analysis</a:t>
            </a:r>
            <a:endParaRPr b="0" i="0" sz="1150" u="none" cap="none" strike="noStrike">
              <a:solidFill>
                <a:schemeClr val="dk1"/>
              </a:solidFill>
              <a:latin typeface="Calibri"/>
              <a:ea typeface="Calibri"/>
              <a:cs typeface="Calibri"/>
              <a:sym typeface="Calibri"/>
            </a:endParaRPr>
          </a:p>
        </p:txBody>
      </p:sp>
      <p:sp>
        <p:nvSpPr>
          <p:cNvPr id="227" name="Google Shape;227;p21"/>
          <p:cNvSpPr txBox="1"/>
          <p:nvPr/>
        </p:nvSpPr>
        <p:spPr>
          <a:xfrm>
            <a:off x="5321808" y="1920240"/>
            <a:ext cx="342900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Run a regression model isolating delivery delay as a variable, controlling for product type, price, and region.</a:t>
            </a:r>
            <a:endParaRPr b="0" i="0" sz="1000" u="none" cap="none" strike="noStrike">
              <a:solidFill>
                <a:schemeClr val="dk1"/>
              </a:solidFill>
              <a:latin typeface="Calibri"/>
              <a:ea typeface="Calibri"/>
              <a:cs typeface="Calibri"/>
              <a:sym typeface="Calibri"/>
            </a:endParaRPr>
          </a:p>
        </p:txBody>
      </p:sp>
      <p:sp>
        <p:nvSpPr>
          <p:cNvPr id="228" name="Google Shape;228;p21"/>
          <p:cNvSpPr/>
          <p:nvPr/>
        </p:nvSpPr>
        <p:spPr>
          <a:xfrm>
            <a:off x="4846320" y="2395728"/>
            <a:ext cx="347472" cy="347472"/>
          </a:xfrm>
          <a:prstGeom prst="roundRect">
            <a:avLst>
              <a:gd fmla="val 13158"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
          <p:cNvSpPr txBox="1"/>
          <p:nvPr/>
        </p:nvSpPr>
        <p:spPr>
          <a:xfrm>
            <a:off x="4846320" y="239572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30" name="Google Shape;230;p21"/>
          <p:cNvSpPr txBox="1"/>
          <p:nvPr/>
        </p:nvSpPr>
        <p:spPr>
          <a:xfrm>
            <a:off x="5321808" y="239572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50"/>
              <a:buFont typeface="Calibri"/>
              <a:buNone/>
            </a:pPr>
            <a:r>
              <a:rPr b="1" i="0" lang="en" sz="1150" u="none" cap="none" strike="noStrike">
                <a:solidFill>
                  <a:srgbClr val="10B981"/>
                </a:solidFill>
                <a:latin typeface="Calibri"/>
                <a:ea typeface="Calibri"/>
                <a:cs typeface="Calibri"/>
                <a:sym typeface="Calibri"/>
              </a:rPr>
              <a:t>Seller/Region Drilldown</a:t>
            </a:r>
            <a:endParaRPr b="0" i="0" sz="1150" u="none" cap="none" strike="noStrike">
              <a:solidFill>
                <a:schemeClr val="dk1"/>
              </a:solidFill>
              <a:latin typeface="Calibri"/>
              <a:ea typeface="Calibri"/>
              <a:cs typeface="Calibri"/>
              <a:sym typeface="Calibri"/>
            </a:endParaRPr>
          </a:p>
        </p:txBody>
      </p:sp>
      <p:sp>
        <p:nvSpPr>
          <p:cNvPr id="231" name="Google Shape;231;p21"/>
          <p:cNvSpPr txBox="1"/>
          <p:nvPr/>
        </p:nvSpPr>
        <p:spPr>
          <a:xfrm>
            <a:off x="5321808" y="2743200"/>
            <a:ext cx="342900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Investigate root causes behind the 6.5% late orders at seller and geographic granularity.</a:t>
            </a:r>
            <a:endParaRPr b="0" i="0" sz="1000" u="none" cap="none" strike="noStrike">
              <a:solidFill>
                <a:schemeClr val="dk1"/>
              </a:solidFill>
              <a:latin typeface="Calibri"/>
              <a:ea typeface="Calibri"/>
              <a:cs typeface="Calibri"/>
              <a:sym typeface="Calibri"/>
            </a:endParaRPr>
          </a:p>
        </p:txBody>
      </p:sp>
      <p:sp>
        <p:nvSpPr>
          <p:cNvPr id="232" name="Google Shape;232;p21"/>
          <p:cNvSpPr/>
          <p:nvPr/>
        </p:nvSpPr>
        <p:spPr>
          <a:xfrm>
            <a:off x="4846320" y="3218688"/>
            <a:ext cx="347472" cy="347472"/>
          </a:xfrm>
          <a:prstGeom prst="roundRect">
            <a:avLst>
              <a:gd fmla="val 13158"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1"/>
          <p:cNvSpPr txBox="1"/>
          <p:nvPr/>
        </p:nvSpPr>
        <p:spPr>
          <a:xfrm>
            <a:off x="4846320" y="321868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34" name="Google Shape;234;p21"/>
          <p:cNvSpPr txBox="1"/>
          <p:nvPr/>
        </p:nvSpPr>
        <p:spPr>
          <a:xfrm>
            <a:off x="5321808" y="3218688"/>
            <a:ext cx="3429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B981"/>
              </a:buClr>
              <a:buSzPts val="1150"/>
              <a:buFont typeface="Calibri"/>
              <a:buNone/>
            </a:pPr>
            <a:r>
              <a:rPr b="1" i="0" lang="en" sz="1150" u="none" cap="none" strike="noStrike">
                <a:solidFill>
                  <a:srgbClr val="10B981"/>
                </a:solidFill>
                <a:latin typeface="Calibri"/>
                <a:ea typeface="Calibri"/>
                <a:cs typeface="Calibri"/>
                <a:sym typeface="Calibri"/>
              </a:rPr>
              <a:t>Live Monitoring Dashboard</a:t>
            </a:r>
            <a:endParaRPr b="0" i="0" sz="1150" u="none" cap="none" strike="noStrike">
              <a:solidFill>
                <a:schemeClr val="dk1"/>
              </a:solidFill>
              <a:latin typeface="Calibri"/>
              <a:ea typeface="Calibri"/>
              <a:cs typeface="Calibri"/>
              <a:sym typeface="Calibri"/>
            </a:endParaRPr>
          </a:p>
        </p:txBody>
      </p:sp>
      <p:sp>
        <p:nvSpPr>
          <p:cNvPr id="235" name="Google Shape;235;p21"/>
          <p:cNvSpPr txBox="1"/>
          <p:nvPr/>
        </p:nvSpPr>
        <p:spPr>
          <a:xfrm>
            <a:off x="5321808" y="3566160"/>
            <a:ext cx="342900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E293B"/>
              </a:buClr>
              <a:buSzPts val="1000"/>
              <a:buFont typeface="Calibri"/>
              <a:buNone/>
            </a:pPr>
            <a:r>
              <a:rPr b="0" i="0" lang="en" sz="1000" u="none" cap="none" strike="noStrike">
                <a:solidFill>
                  <a:srgbClr val="1E293B"/>
                </a:solidFill>
                <a:latin typeface="Calibri"/>
                <a:ea typeface="Calibri"/>
                <a:cs typeface="Calibri"/>
                <a:sym typeface="Calibri"/>
              </a:rPr>
              <a:t>Build a real-time delivery KPI dashboard in Looker Studio for ongoing tracking by ops teams.</a:t>
            </a:r>
            <a:endParaRPr b="0" i="0" sz="1000" u="none" cap="none" strike="noStrike">
              <a:solidFill>
                <a:schemeClr val="dk1"/>
              </a:solidFill>
              <a:latin typeface="Calibri"/>
              <a:ea typeface="Calibri"/>
              <a:cs typeface="Calibri"/>
              <a:sym typeface="Calibri"/>
            </a:endParaRPr>
          </a:p>
        </p:txBody>
      </p:sp>
      <p:sp>
        <p:nvSpPr>
          <p:cNvPr id="236" name="Google Shape;236;p21"/>
          <p:cNvSpPr/>
          <p:nvPr/>
        </p:nvSpPr>
        <p:spPr>
          <a:xfrm>
            <a:off x="274320" y="4453128"/>
            <a:ext cx="8595360" cy="457200"/>
          </a:xfrm>
          <a:prstGeom prst="roundRect">
            <a:avLst>
              <a:gd fmla="val 16000" name="adj"/>
            </a:avLst>
          </a:prstGeom>
          <a:solidFill>
            <a:srgbClr val="0F1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
          <p:cNvSpPr txBox="1"/>
          <p:nvPr/>
        </p:nvSpPr>
        <p:spPr>
          <a:xfrm>
            <a:off x="457200" y="4507992"/>
            <a:ext cx="82296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0" i="0" lang="en" sz="1100" u="none" cap="none" strike="noStrike">
                <a:solidFill>
                  <a:srgbClr val="FFFFFF"/>
                </a:solidFill>
                <a:latin typeface="Calibri"/>
                <a:ea typeface="Calibri"/>
                <a:cs typeface="Calibri"/>
                <a:sym typeface="Calibri"/>
              </a:rPr>
              <a:t>Thank you — Questions welcome  | </a:t>
            </a:r>
            <a:r>
              <a:rPr lang="en" sz="1100">
                <a:solidFill>
                  <a:srgbClr val="FFFFFF"/>
                </a:solidFill>
                <a:latin typeface="Calibri"/>
                <a:ea typeface="Calibri"/>
                <a:cs typeface="Calibri"/>
                <a:sym typeface="Calibri"/>
              </a:rPr>
              <a:t>Riya Bhardwaj</a:t>
            </a:r>
            <a:endParaRPr sz="1100">
              <a:solidFill>
                <a:srgbClr val="FFFFFF"/>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t/>
            </a:r>
            <a:endParaRPr sz="1100">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